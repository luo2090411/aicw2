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sldIdLst>
    <p:sldId id="259" r:id="rId5"/>
  </p:sldIdLst>
  <p:sldSz cx="42800588"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3458" userDrawn="1">
          <p15:clr>
            <a:srgbClr val="A4A3A4"/>
          </p15:clr>
        </p15:guide>
        <p15:guide id="3" orient="horz" pos="95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terson, Helen" initials="PH" lastIdx="1" clrIdx="0">
    <p:extLst>
      <p:ext uri="{19B8F6BF-5375-455C-9EA6-DF929625EA0E}">
        <p15:presenceInfo xmlns:p15="http://schemas.microsoft.com/office/powerpoint/2012/main" userId="S::ucyihcp@ucl.ac.uk::5f259b6b-27f6-4b09-8495-590a8edf876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CED"/>
    <a:srgbClr val="CCFFFF"/>
    <a:srgbClr val="E6F5F6"/>
    <a:srgbClr val="E6E6E6"/>
    <a:srgbClr val="FBF3F7"/>
    <a:srgbClr val="E5E5DE"/>
    <a:srgbClr val="F4F5EC"/>
    <a:srgbClr val="F6F6F6"/>
    <a:srgbClr val="DCD7DB"/>
    <a:srgbClr val="DCD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96233" autoAdjust="0"/>
  </p:normalViewPr>
  <p:slideViewPr>
    <p:cSldViewPr snapToGrid="0" showGuides="1">
      <p:cViewPr>
        <p:scale>
          <a:sx n="33" d="100"/>
          <a:sy n="33" d="100"/>
        </p:scale>
        <p:origin x="2272" y="92"/>
      </p:cViewPr>
      <p:guideLst>
        <p:guide pos="13458"/>
        <p:guide orient="horz" pos="95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ommentAuthors" Target="commen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zh-CN" sz="3200" dirty="0"/>
              <a:t>Training Data</a:t>
            </a:r>
            <a:r>
              <a:rPr lang="en-US" altLang="zh-CN" sz="3200" baseline="0" dirty="0"/>
              <a:t>: </a:t>
            </a:r>
            <a:r>
              <a:rPr lang="en-US" altLang="zh-CN" sz="3200" dirty="0"/>
              <a:t>Forum Comments Collection</a:t>
            </a:r>
          </a:p>
        </c:rich>
      </c:tx>
      <c:layout>
        <c:manualLayout>
          <c:xMode val="edge"/>
          <c:yMode val="edge"/>
          <c:x val="0.20217291269824283"/>
          <c:y val="1.495726244073247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Forum Comments Collection</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6E0A-44D1-A7FA-509874144BF1}"/>
              </c:ext>
            </c:extLst>
          </c:dPt>
          <c:dPt>
            <c:idx val="1"/>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3-6E0A-44D1-A7FA-509874144BF1}"/>
              </c:ext>
            </c:extLst>
          </c:dPt>
          <c:dPt>
            <c:idx val="2"/>
            <c:bubble3D val="0"/>
            <c:spPr>
              <a:solidFill>
                <a:schemeClr val="bg2">
                  <a:lumMod val="90000"/>
                </a:schemeClr>
              </a:solidFill>
              <a:ln w="19050">
                <a:solidFill>
                  <a:schemeClr val="lt1"/>
                </a:solidFill>
              </a:ln>
              <a:effectLst/>
            </c:spPr>
            <c:extLst>
              <c:ext xmlns:c16="http://schemas.microsoft.com/office/drawing/2014/chart" uri="{C3380CC4-5D6E-409C-BE32-E72D297353CC}">
                <c16:uniqueId val="{00000005-6E0A-44D1-A7FA-509874144BF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E0A-44D1-A7FA-509874144BF1}"/>
              </c:ext>
            </c:extLst>
          </c:dPt>
          <c:cat>
            <c:strRef>
              <c:f>Sheet1!$A$2:$A$5</c:f>
              <c:strCache>
                <c:ptCount val="3"/>
                <c:pt idx="0">
                  <c:v>Highly aggressive</c:v>
                </c:pt>
                <c:pt idx="1">
                  <c:v>Weak aggression / stereotype</c:v>
                </c:pt>
                <c:pt idx="2">
                  <c:v>neutral + unrelated</c:v>
                </c:pt>
              </c:strCache>
            </c:strRef>
          </c:cat>
          <c:val>
            <c:numRef>
              <c:f>Sheet1!$B$2:$B$5</c:f>
              <c:numCache>
                <c:formatCode>0.00%</c:formatCode>
                <c:ptCount val="4"/>
                <c:pt idx="0">
                  <c:v>8.7999999999999995E-2</c:v>
                </c:pt>
                <c:pt idx="1">
                  <c:v>4.9000000000000002E-2</c:v>
                </c:pt>
                <c:pt idx="2">
                  <c:v>0.86629999999999996</c:v>
                </c:pt>
              </c:numCache>
            </c:numRef>
          </c:val>
          <c:extLst>
            <c:ext xmlns:c16="http://schemas.microsoft.com/office/drawing/2014/chart" uri="{C3380CC4-5D6E-409C-BE32-E72D297353CC}">
              <c16:uniqueId val="{00000008-6E0A-44D1-A7FA-509874144BF1}"/>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9.2662582824838122E-2"/>
          <c:y val="0.7091513741718305"/>
          <c:w val="0.86748835368881583"/>
          <c:h val="0.2908486258281697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6911C-D02B-4A67-9BE8-48A0EDF98086}" type="doc">
      <dgm:prSet loTypeId="urn:microsoft.com/office/officeart/2009/3/layout/IncreasingArrowsProcess" loCatId="process" qsTypeId="urn:microsoft.com/office/officeart/2005/8/quickstyle/simple1" qsCatId="simple" csTypeId="urn:microsoft.com/office/officeart/2005/8/colors/accent4_1" csCatId="accent4" phldr="1"/>
      <dgm:spPr/>
      <dgm:t>
        <a:bodyPr/>
        <a:lstStyle/>
        <a:p>
          <a:endParaRPr lang="zh-CN" altLang="en-US"/>
        </a:p>
      </dgm:t>
    </dgm:pt>
    <dgm:pt modelId="{AFB75470-18BE-4FEF-B84A-9A7E759AA2F1}">
      <dgm:prSet phldrT="[文本]"/>
      <dgm:spPr/>
      <dgm:t>
        <a:bodyPr/>
        <a:lstStyle/>
        <a:p>
          <a:r>
            <a:rPr lang="en-US" altLang="en-US" b="1" dirty="0"/>
            <a:t>Dataset Construction</a:t>
          </a:r>
          <a:endParaRPr lang="zh-CN" altLang="en-US" b="1" dirty="0"/>
        </a:p>
      </dgm:t>
    </dgm:pt>
    <dgm:pt modelId="{C29CB6E6-C0F0-4E80-A8A9-434EFC5C3937}" type="parTrans" cxnId="{AD2ABA5A-11FE-4FE1-8EE5-7A6A129AB66B}">
      <dgm:prSet/>
      <dgm:spPr/>
      <dgm:t>
        <a:bodyPr/>
        <a:lstStyle/>
        <a:p>
          <a:endParaRPr lang="zh-CN" altLang="en-US"/>
        </a:p>
      </dgm:t>
    </dgm:pt>
    <dgm:pt modelId="{CB516964-C6D0-499E-9321-7116711CD7B3}" type="sibTrans" cxnId="{AD2ABA5A-11FE-4FE1-8EE5-7A6A129AB66B}">
      <dgm:prSet/>
      <dgm:spPr/>
      <dgm:t>
        <a:bodyPr/>
        <a:lstStyle/>
        <a:p>
          <a:endParaRPr lang="zh-CN" altLang="en-US"/>
        </a:p>
      </dgm:t>
    </dgm:pt>
    <dgm:pt modelId="{EA7AED05-0CEB-4B43-8891-8F19BF7FE35E}">
      <dgm:prSet phldrT="[文本]"/>
      <dgm:spPr/>
      <dgm:t>
        <a:bodyPr/>
        <a:lstStyle/>
        <a:p>
          <a:r>
            <a:rPr lang="en-US" altLang="en-US" dirty="0"/>
            <a:t>Integration Group:</a:t>
          </a:r>
          <a:endParaRPr lang="zh-CN" altLang="en-US" dirty="0"/>
        </a:p>
      </dgm:t>
    </dgm:pt>
    <dgm:pt modelId="{E5EFC13A-1E5B-4A02-A1CA-AA4D4338359F}" type="parTrans" cxnId="{7D19F500-A888-4BC9-9FFE-E26CF7A5AE2D}">
      <dgm:prSet/>
      <dgm:spPr/>
      <dgm:t>
        <a:bodyPr/>
        <a:lstStyle/>
        <a:p>
          <a:endParaRPr lang="zh-CN" altLang="en-US"/>
        </a:p>
      </dgm:t>
    </dgm:pt>
    <dgm:pt modelId="{D2EA5272-B2F2-4642-8F33-390B746FD7D4}" type="sibTrans" cxnId="{7D19F500-A888-4BC9-9FFE-E26CF7A5AE2D}">
      <dgm:prSet/>
      <dgm:spPr/>
      <dgm:t>
        <a:bodyPr/>
        <a:lstStyle/>
        <a:p>
          <a:endParaRPr lang="zh-CN" altLang="en-US"/>
        </a:p>
      </dgm:t>
    </dgm:pt>
    <dgm:pt modelId="{856F9463-4C17-4A39-8F5D-A284D178A646}">
      <dgm:prSet phldrT="[文本]"/>
      <dgm:spPr/>
      <dgm:t>
        <a:bodyPr/>
        <a:lstStyle/>
        <a:p>
          <a:r>
            <a:rPr lang="en-US" altLang="en-US" b="1" dirty="0"/>
            <a:t>Exploratory Data Analysis</a:t>
          </a:r>
          <a:endParaRPr lang="zh-CN" altLang="en-US" b="1" dirty="0"/>
        </a:p>
      </dgm:t>
    </dgm:pt>
    <dgm:pt modelId="{3F350950-713B-46E3-990D-B85FCF78287A}" type="parTrans" cxnId="{A2C7A44C-F183-41DD-A4D4-7CEA0C125DB2}">
      <dgm:prSet/>
      <dgm:spPr/>
      <dgm:t>
        <a:bodyPr/>
        <a:lstStyle/>
        <a:p>
          <a:endParaRPr lang="zh-CN" altLang="en-US"/>
        </a:p>
      </dgm:t>
    </dgm:pt>
    <dgm:pt modelId="{960E6827-6F42-4FE2-AC05-4FE8FB3C34E7}" type="sibTrans" cxnId="{A2C7A44C-F183-41DD-A4D4-7CEA0C125DB2}">
      <dgm:prSet/>
      <dgm:spPr/>
      <dgm:t>
        <a:bodyPr/>
        <a:lstStyle/>
        <a:p>
          <a:endParaRPr lang="zh-CN" altLang="en-US"/>
        </a:p>
      </dgm:t>
    </dgm:pt>
    <dgm:pt modelId="{2E548BDC-3710-44B5-8D4F-FE66E8AA638B}">
      <dgm:prSet phldrT="[文本]"/>
      <dgm:spPr/>
      <dgm:t>
        <a:bodyPr/>
        <a:lstStyle/>
        <a:p>
          <a:r>
            <a:rPr lang="en-US" altLang="en-US" dirty="0"/>
            <a:t>Sentiment Analysi</a:t>
          </a:r>
          <a:r>
            <a:rPr lang="en-US" altLang="zh-CN" dirty="0"/>
            <a:t>s</a:t>
          </a:r>
        </a:p>
        <a:p>
          <a:r>
            <a:rPr lang="en-US" altLang="zh-CN" dirty="0"/>
            <a:t>Social Attitude Analysis</a:t>
          </a:r>
          <a:endParaRPr lang="zh-CN" altLang="en-US" dirty="0"/>
        </a:p>
      </dgm:t>
    </dgm:pt>
    <dgm:pt modelId="{8BCA3289-81E0-444D-A811-287661CA46FF}" type="parTrans" cxnId="{BA04A2B3-8779-4EB9-B6E4-EE264A4FE1C2}">
      <dgm:prSet/>
      <dgm:spPr/>
      <dgm:t>
        <a:bodyPr/>
        <a:lstStyle/>
        <a:p>
          <a:endParaRPr lang="zh-CN" altLang="en-US"/>
        </a:p>
      </dgm:t>
    </dgm:pt>
    <dgm:pt modelId="{3162F682-9A58-45F6-B775-F251D40C8CD9}" type="sibTrans" cxnId="{BA04A2B3-8779-4EB9-B6E4-EE264A4FE1C2}">
      <dgm:prSet/>
      <dgm:spPr/>
      <dgm:t>
        <a:bodyPr/>
        <a:lstStyle/>
        <a:p>
          <a:endParaRPr lang="zh-CN" altLang="en-US"/>
        </a:p>
      </dgm:t>
    </dgm:pt>
    <dgm:pt modelId="{A6A5608C-A32D-4D49-B964-9FEABC73BD74}">
      <dgm:prSet phldrT="[文本]" custT="1"/>
      <dgm:spPr/>
      <dgm:t>
        <a:bodyPr/>
        <a:lstStyle/>
        <a:p>
          <a:r>
            <a:rPr lang="en-US" altLang="en-US" sz="2800" b="1" dirty="0"/>
            <a:t>Model Training</a:t>
          </a:r>
          <a:endParaRPr lang="zh-CN" altLang="en-US" sz="2800" b="1" dirty="0"/>
        </a:p>
      </dgm:t>
    </dgm:pt>
    <dgm:pt modelId="{DA5E2941-7706-41A7-B551-34798B22F84F}" type="parTrans" cxnId="{9BB58C4B-A6D1-4228-922F-2F108EFDC00D}">
      <dgm:prSet/>
      <dgm:spPr/>
      <dgm:t>
        <a:bodyPr/>
        <a:lstStyle/>
        <a:p>
          <a:endParaRPr lang="zh-CN" altLang="en-US"/>
        </a:p>
      </dgm:t>
    </dgm:pt>
    <dgm:pt modelId="{3252ED90-89F5-4290-9D72-FF86887CA003}" type="sibTrans" cxnId="{9BB58C4B-A6D1-4228-922F-2F108EFDC00D}">
      <dgm:prSet/>
      <dgm:spPr/>
      <dgm:t>
        <a:bodyPr/>
        <a:lstStyle/>
        <a:p>
          <a:endParaRPr lang="zh-CN" altLang="en-US"/>
        </a:p>
      </dgm:t>
    </dgm:pt>
    <dgm:pt modelId="{4A7C14FE-C833-4DEA-A465-966D1F234875}">
      <dgm:prSet phldrT="[文本]"/>
      <dgm:spPr/>
      <dgm:t>
        <a:bodyPr/>
        <a:lstStyle/>
        <a:p>
          <a:r>
            <a:rPr lang="en-US" altLang="en-US" dirty="0"/>
            <a:t>Choose  models</a:t>
          </a:r>
          <a:r>
            <a:rPr lang="zh-CN" altLang="en-US" dirty="0"/>
            <a:t>：</a:t>
          </a:r>
        </a:p>
      </dgm:t>
    </dgm:pt>
    <dgm:pt modelId="{8DD36CE6-7643-46ED-966E-81B6FBDDC198}" type="parTrans" cxnId="{A47095C2-5959-4014-9C94-9745A65BFACA}">
      <dgm:prSet/>
      <dgm:spPr/>
      <dgm:t>
        <a:bodyPr/>
        <a:lstStyle/>
        <a:p>
          <a:endParaRPr lang="zh-CN" altLang="en-US"/>
        </a:p>
      </dgm:t>
    </dgm:pt>
    <dgm:pt modelId="{FCB9D9BA-202E-4743-91CD-5DD318DA7EC1}" type="sibTrans" cxnId="{A47095C2-5959-4014-9C94-9745A65BFACA}">
      <dgm:prSet/>
      <dgm:spPr/>
    </dgm:pt>
    <dgm:pt modelId="{663ED157-2B6D-44FA-B218-EC9601979A55}">
      <dgm:prSet phldrT="[文本]"/>
      <dgm:spPr/>
      <dgm:t>
        <a:bodyPr/>
        <a:lstStyle/>
        <a:p>
          <a:r>
            <a:rPr lang="en-US" altLang="en-US" dirty="0"/>
            <a:t>Gender</a:t>
          </a:r>
          <a:endParaRPr lang="zh-CN" altLang="en-US" dirty="0"/>
        </a:p>
      </dgm:t>
    </dgm:pt>
    <dgm:pt modelId="{7F42FBA8-176B-4F16-8941-544EC5A25924}" type="parTrans" cxnId="{72C3C76F-D442-47EF-A31F-178341277F1A}">
      <dgm:prSet/>
      <dgm:spPr/>
      <dgm:t>
        <a:bodyPr/>
        <a:lstStyle/>
        <a:p>
          <a:endParaRPr lang="zh-CN" altLang="en-US"/>
        </a:p>
      </dgm:t>
    </dgm:pt>
    <dgm:pt modelId="{CCA7CD5F-A7EA-4691-96ED-E7010917E219}" type="sibTrans" cxnId="{72C3C76F-D442-47EF-A31F-178341277F1A}">
      <dgm:prSet/>
      <dgm:spPr/>
      <dgm:t>
        <a:bodyPr/>
        <a:lstStyle/>
        <a:p>
          <a:endParaRPr lang="zh-CN" altLang="en-US"/>
        </a:p>
      </dgm:t>
    </dgm:pt>
    <dgm:pt modelId="{7EADB3B2-0BE2-4D56-BC6E-D4AEB418D5EE}">
      <dgm:prSet phldrT="[文本]"/>
      <dgm:spPr/>
      <dgm:t>
        <a:bodyPr/>
        <a:lstStyle/>
        <a:p>
          <a:r>
            <a:rPr lang="en-US" altLang="en-US" dirty="0"/>
            <a:t>sexual</a:t>
          </a:r>
          <a:endParaRPr lang="zh-CN" altLang="en-US" dirty="0"/>
        </a:p>
      </dgm:t>
    </dgm:pt>
    <dgm:pt modelId="{1D9AD675-B834-4DC7-9294-A25F405051AC}" type="parTrans" cxnId="{F8C56858-E21B-463B-8D52-B07E821B7B79}">
      <dgm:prSet/>
      <dgm:spPr/>
      <dgm:t>
        <a:bodyPr/>
        <a:lstStyle/>
        <a:p>
          <a:endParaRPr lang="zh-CN" altLang="en-US"/>
        </a:p>
      </dgm:t>
    </dgm:pt>
    <dgm:pt modelId="{FAB92D9C-B0AD-476A-B3F8-AC6E5851C300}" type="sibTrans" cxnId="{F8C56858-E21B-463B-8D52-B07E821B7B79}">
      <dgm:prSet/>
      <dgm:spPr/>
      <dgm:t>
        <a:bodyPr/>
        <a:lstStyle/>
        <a:p>
          <a:endParaRPr lang="zh-CN" altLang="en-US"/>
        </a:p>
      </dgm:t>
    </dgm:pt>
    <dgm:pt modelId="{72F58341-C75D-4817-B4B6-291DE1F51870}">
      <dgm:prSet phldrT="[文本]"/>
      <dgm:spPr/>
      <dgm:t>
        <a:bodyPr/>
        <a:lstStyle/>
        <a:p>
          <a:r>
            <a:rPr lang="en-US" altLang="en-US" dirty="0"/>
            <a:t>ethnicity</a:t>
          </a:r>
          <a:endParaRPr lang="zh-CN" altLang="en-US" dirty="0"/>
        </a:p>
      </dgm:t>
    </dgm:pt>
    <dgm:pt modelId="{CB96D959-2851-45DD-849A-097CC64D7037}" type="parTrans" cxnId="{E509FDE6-9E4A-4306-B680-8F588625ABAD}">
      <dgm:prSet/>
      <dgm:spPr/>
      <dgm:t>
        <a:bodyPr/>
        <a:lstStyle/>
        <a:p>
          <a:endParaRPr lang="zh-CN" altLang="en-US"/>
        </a:p>
      </dgm:t>
    </dgm:pt>
    <dgm:pt modelId="{37167F45-A15A-4D69-B8B3-A2DF8246E67A}" type="sibTrans" cxnId="{E509FDE6-9E4A-4306-B680-8F588625ABAD}">
      <dgm:prSet/>
      <dgm:spPr/>
      <dgm:t>
        <a:bodyPr/>
        <a:lstStyle/>
        <a:p>
          <a:endParaRPr lang="zh-CN" altLang="en-US"/>
        </a:p>
      </dgm:t>
    </dgm:pt>
    <dgm:pt modelId="{F7198A02-1D3C-4CA3-A910-8037CED9CCC1}">
      <dgm:prSet phldrT="[文本]"/>
      <dgm:spPr/>
      <dgm:t>
        <a:bodyPr/>
        <a:lstStyle/>
        <a:p>
          <a:r>
            <a:rPr lang="en-US" altLang="en-US" dirty="0"/>
            <a:t>religion</a:t>
          </a:r>
          <a:endParaRPr lang="zh-CN" altLang="en-US" dirty="0"/>
        </a:p>
      </dgm:t>
    </dgm:pt>
    <dgm:pt modelId="{46C24A2C-DEE4-427A-B891-995243DB0FF2}" type="parTrans" cxnId="{6F84F032-7013-47E1-AADD-6C19129A6F26}">
      <dgm:prSet/>
      <dgm:spPr/>
      <dgm:t>
        <a:bodyPr/>
        <a:lstStyle/>
        <a:p>
          <a:endParaRPr lang="zh-CN" altLang="en-US"/>
        </a:p>
      </dgm:t>
    </dgm:pt>
    <dgm:pt modelId="{E2B6EDBD-0D09-4A9A-B413-24AA5A29607C}" type="sibTrans" cxnId="{6F84F032-7013-47E1-AADD-6C19129A6F26}">
      <dgm:prSet/>
      <dgm:spPr/>
      <dgm:t>
        <a:bodyPr/>
        <a:lstStyle/>
        <a:p>
          <a:endParaRPr lang="zh-CN" altLang="en-US"/>
        </a:p>
      </dgm:t>
    </dgm:pt>
    <dgm:pt modelId="{82A490EF-54DE-49F9-99ED-E9CAE4A7E569}">
      <dgm:prSet phldrT="[文本]"/>
      <dgm:spPr/>
      <dgm:t>
        <a:bodyPr/>
        <a:lstStyle/>
        <a:p>
          <a:r>
            <a:rPr lang="en-US" altLang="en-US" dirty="0"/>
            <a:t>age</a:t>
          </a:r>
          <a:endParaRPr lang="zh-CN" altLang="en-US" dirty="0"/>
        </a:p>
      </dgm:t>
    </dgm:pt>
    <dgm:pt modelId="{F5E6D7DE-71E2-4BF1-89C5-043F7EAC1D91}" type="parTrans" cxnId="{772F59DB-7A62-4E39-A1C8-D069825FD3DE}">
      <dgm:prSet/>
      <dgm:spPr/>
      <dgm:t>
        <a:bodyPr/>
        <a:lstStyle/>
        <a:p>
          <a:endParaRPr lang="zh-CN" altLang="en-US"/>
        </a:p>
      </dgm:t>
    </dgm:pt>
    <dgm:pt modelId="{81F26C87-8D2E-46B2-BE02-7B8A465DD027}" type="sibTrans" cxnId="{772F59DB-7A62-4E39-A1C8-D069825FD3DE}">
      <dgm:prSet/>
      <dgm:spPr/>
      <dgm:t>
        <a:bodyPr/>
        <a:lstStyle/>
        <a:p>
          <a:endParaRPr lang="zh-CN" altLang="en-US"/>
        </a:p>
      </dgm:t>
    </dgm:pt>
    <dgm:pt modelId="{D88A11F7-B244-42AA-9BCB-7EA812195614}">
      <dgm:prSet phldrT="[文本]"/>
      <dgm:spPr/>
      <dgm:t>
        <a:bodyPr/>
        <a:lstStyle/>
        <a:p>
          <a:r>
            <a:rPr lang="en-US" altLang="en-US" dirty="0"/>
            <a:t>nationality </a:t>
          </a:r>
          <a:endParaRPr lang="zh-CN" altLang="en-US" dirty="0"/>
        </a:p>
      </dgm:t>
    </dgm:pt>
    <dgm:pt modelId="{8787AFBC-FB6F-4EB2-AFBE-E7B76830C21F}" type="parTrans" cxnId="{892E5592-A3D0-41DA-A873-6DE4B3E8DB3A}">
      <dgm:prSet/>
      <dgm:spPr/>
      <dgm:t>
        <a:bodyPr/>
        <a:lstStyle/>
        <a:p>
          <a:endParaRPr lang="zh-CN" altLang="en-US"/>
        </a:p>
      </dgm:t>
    </dgm:pt>
    <dgm:pt modelId="{CC7B4C20-22A6-41A2-BFD7-A9C38EC3A5B5}" type="sibTrans" cxnId="{892E5592-A3D0-41DA-A873-6DE4B3E8DB3A}">
      <dgm:prSet/>
      <dgm:spPr/>
      <dgm:t>
        <a:bodyPr/>
        <a:lstStyle/>
        <a:p>
          <a:endParaRPr lang="zh-CN" altLang="en-US"/>
        </a:p>
      </dgm:t>
    </dgm:pt>
    <dgm:pt modelId="{0020C008-897C-4740-AA25-016797BE6ACE}">
      <dgm:prSet phldrT="[文本]"/>
      <dgm:spPr/>
      <dgm:t>
        <a:bodyPr/>
        <a:lstStyle/>
        <a:p>
          <a:r>
            <a:rPr lang="en-US" altLang="en-US" dirty="0"/>
            <a:t>Logistic Regressio</a:t>
          </a:r>
          <a:r>
            <a:rPr lang="en-US" altLang="zh-CN" dirty="0"/>
            <a:t>n</a:t>
          </a:r>
          <a:endParaRPr lang="zh-CN" altLang="en-US" dirty="0"/>
        </a:p>
      </dgm:t>
    </dgm:pt>
    <dgm:pt modelId="{07CCF078-43F7-4008-8CE3-27F353C20DF9}" type="parTrans" cxnId="{D44D8760-D76A-46C6-9F23-4C2D6262D8B6}">
      <dgm:prSet/>
      <dgm:spPr/>
      <dgm:t>
        <a:bodyPr/>
        <a:lstStyle/>
        <a:p>
          <a:endParaRPr lang="zh-CN" altLang="en-US"/>
        </a:p>
      </dgm:t>
    </dgm:pt>
    <dgm:pt modelId="{D45F8326-0B86-48D8-8FE4-425AFC522F0F}" type="sibTrans" cxnId="{D44D8760-D76A-46C6-9F23-4C2D6262D8B6}">
      <dgm:prSet/>
      <dgm:spPr/>
      <dgm:t>
        <a:bodyPr/>
        <a:lstStyle/>
        <a:p>
          <a:endParaRPr lang="zh-CN" altLang="en-US"/>
        </a:p>
      </dgm:t>
    </dgm:pt>
    <dgm:pt modelId="{42D593AA-E00B-4FE6-B267-F2F139C7E090}">
      <dgm:prSet phldrT="[文本]"/>
      <dgm:spPr/>
      <dgm:t>
        <a:bodyPr/>
        <a:lstStyle/>
        <a:p>
          <a:r>
            <a:rPr lang="en-US" altLang="en-US" dirty="0"/>
            <a:t>BERT</a:t>
          </a:r>
          <a:endParaRPr lang="zh-CN" altLang="en-US" dirty="0"/>
        </a:p>
      </dgm:t>
    </dgm:pt>
    <dgm:pt modelId="{4CD73AB3-F145-42FE-A0C6-591612EB470D}" type="parTrans" cxnId="{0CEE278B-290D-4C67-B065-3FECF5632C6E}">
      <dgm:prSet/>
      <dgm:spPr/>
      <dgm:t>
        <a:bodyPr/>
        <a:lstStyle/>
        <a:p>
          <a:endParaRPr lang="zh-CN" altLang="en-US"/>
        </a:p>
      </dgm:t>
    </dgm:pt>
    <dgm:pt modelId="{4B7A7D1E-AB82-42E2-B3CD-7347A0A13086}" type="sibTrans" cxnId="{0CEE278B-290D-4C67-B065-3FECF5632C6E}">
      <dgm:prSet/>
      <dgm:spPr/>
      <dgm:t>
        <a:bodyPr/>
        <a:lstStyle/>
        <a:p>
          <a:endParaRPr lang="zh-CN" altLang="en-US"/>
        </a:p>
      </dgm:t>
    </dgm:pt>
    <dgm:pt modelId="{D580C46A-0811-4CA3-B438-6691F73D8D7B}">
      <dgm:prSet phldrT="[文本]"/>
      <dgm:spPr/>
      <dgm:t>
        <a:bodyPr/>
        <a:lstStyle/>
        <a:p>
          <a:r>
            <a:rPr lang="en-US" altLang="en-US" dirty="0" err="1"/>
            <a:t>DistilBERT</a:t>
          </a:r>
          <a:endParaRPr lang="zh-CN" altLang="en-US" dirty="0"/>
        </a:p>
      </dgm:t>
    </dgm:pt>
    <dgm:pt modelId="{C40BBA91-EE04-40C6-B2AA-F49CE8BBFE28}" type="parTrans" cxnId="{72207F27-510B-403F-B92E-FD2F026653DB}">
      <dgm:prSet/>
      <dgm:spPr/>
      <dgm:t>
        <a:bodyPr/>
        <a:lstStyle/>
        <a:p>
          <a:endParaRPr lang="zh-CN" altLang="en-US"/>
        </a:p>
      </dgm:t>
    </dgm:pt>
    <dgm:pt modelId="{F21291B7-F41C-4174-809A-E04FCACB0B21}" type="sibTrans" cxnId="{72207F27-510B-403F-B92E-FD2F026653DB}">
      <dgm:prSet/>
      <dgm:spPr/>
      <dgm:t>
        <a:bodyPr/>
        <a:lstStyle/>
        <a:p>
          <a:endParaRPr lang="zh-CN" altLang="en-US"/>
        </a:p>
      </dgm:t>
    </dgm:pt>
    <dgm:pt modelId="{AFCE7C73-9669-46B9-87D2-0B4AED2182D4}">
      <dgm:prSet phldrT="[文本]"/>
      <dgm:spPr/>
      <dgm:t>
        <a:bodyPr/>
        <a:lstStyle/>
        <a:p>
          <a:r>
            <a:rPr lang="en-US" altLang="en-US" dirty="0"/>
            <a:t>ALBERT-V2</a:t>
          </a:r>
          <a:endParaRPr lang="zh-CN" altLang="en-US" dirty="0"/>
        </a:p>
      </dgm:t>
    </dgm:pt>
    <dgm:pt modelId="{D7B17437-D310-41B5-8CD4-6BD095B6068B}" type="parTrans" cxnId="{1AC66FCF-B263-4E54-BFB4-A7221CC8495D}">
      <dgm:prSet/>
      <dgm:spPr/>
      <dgm:t>
        <a:bodyPr/>
        <a:lstStyle/>
        <a:p>
          <a:endParaRPr lang="zh-CN" altLang="en-US"/>
        </a:p>
      </dgm:t>
    </dgm:pt>
    <dgm:pt modelId="{25CB0762-D024-43F5-8629-0FE8DDBDFC13}" type="sibTrans" cxnId="{1AC66FCF-B263-4E54-BFB4-A7221CC8495D}">
      <dgm:prSet/>
      <dgm:spPr/>
      <dgm:t>
        <a:bodyPr/>
        <a:lstStyle/>
        <a:p>
          <a:endParaRPr lang="zh-CN" altLang="en-US"/>
        </a:p>
      </dgm:t>
    </dgm:pt>
    <dgm:pt modelId="{1C9F340A-DBDC-43CE-B1C8-66B6ADD41743}" type="pres">
      <dgm:prSet presAssocID="{0136911C-D02B-4A67-9BE8-48A0EDF98086}" presName="Name0" presStyleCnt="0">
        <dgm:presLayoutVars>
          <dgm:chMax val="5"/>
          <dgm:chPref val="5"/>
          <dgm:dir/>
          <dgm:animLvl val="lvl"/>
        </dgm:presLayoutVars>
      </dgm:prSet>
      <dgm:spPr/>
    </dgm:pt>
    <dgm:pt modelId="{EDC82DA5-B320-4BD4-81F5-67657843B5B6}" type="pres">
      <dgm:prSet presAssocID="{AFB75470-18BE-4FEF-B84A-9A7E759AA2F1}" presName="parentText1" presStyleLbl="node1" presStyleIdx="0" presStyleCnt="3" custLinFactNeighborX="-12207" custLinFactNeighborY="-64">
        <dgm:presLayoutVars>
          <dgm:chMax/>
          <dgm:chPref val="3"/>
          <dgm:bulletEnabled val="1"/>
        </dgm:presLayoutVars>
      </dgm:prSet>
      <dgm:spPr/>
    </dgm:pt>
    <dgm:pt modelId="{F0CF1E0C-20F3-4388-98DE-E3B3F524B69B}" type="pres">
      <dgm:prSet presAssocID="{AFB75470-18BE-4FEF-B84A-9A7E759AA2F1}" presName="childText1" presStyleLbl="solidAlignAcc1" presStyleIdx="0" presStyleCnt="3">
        <dgm:presLayoutVars>
          <dgm:chMax val="0"/>
          <dgm:chPref val="0"/>
          <dgm:bulletEnabled val="1"/>
        </dgm:presLayoutVars>
      </dgm:prSet>
      <dgm:spPr/>
    </dgm:pt>
    <dgm:pt modelId="{A8DB0CBB-385E-43B5-9094-DC2B47F10058}" type="pres">
      <dgm:prSet presAssocID="{856F9463-4C17-4A39-8F5D-A284D178A646}" presName="parentText2" presStyleLbl="node1" presStyleIdx="1" presStyleCnt="3">
        <dgm:presLayoutVars>
          <dgm:chMax/>
          <dgm:chPref val="3"/>
          <dgm:bulletEnabled val="1"/>
        </dgm:presLayoutVars>
      </dgm:prSet>
      <dgm:spPr/>
    </dgm:pt>
    <dgm:pt modelId="{E1DBC15D-7FA6-4DDD-A3FB-0388168C6D57}" type="pres">
      <dgm:prSet presAssocID="{856F9463-4C17-4A39-8F5D-A284D178A646}" presName="childText2" presStyleLbl="solidAlignAcc1" presStyleIdx="1" presStyleCnt="3" custScaleY="86360" custLinFactNeighborX="300" custLinFactNeighborY="-7262">
        <dgm:presLayoutVars>
          <dgm:chMax val="0"/>
          <dgm:chPref val="0"/>
          <dgm:bulletEnabled val="1"/>
        </dgm:presLayoutVars>
      </dgm:prSet>
      <dgm:spPr/>
    </dgm:pt>
    <dgm:pt modelId="{EBCB5ED6-9F6E-46C6-AF75-7E41794DB7AA}" type="pres">
      <dgm:prSet presAssocID="{A6A5608C-A32D-4D49-B964-9FEABC73BD74}" presName="parentText3" presStyleLbl="node1" presStyleIdx="2" presStyleCnt="3">
        <dgm:presLayoutVars>
          <dgm:chMax/>
          <dgm:chPref val="3"/>
          <dgm:bulletEnabled val="1"/>
        </dgm:presLayoutVars>
      </dgm:prSet>
      <dgm:spPr/>
    </dgm:pt>
    <dgm:pt modelId="{9919484C-B556-480F-84BC-548DEBE11A09}" type="pres">
      <dgm:prSet presAssocID="{A6A5608C-A32D-4D49-B964-9FEABC73BD74}" presName="childText3" presStyleLbl="solidAlignAcc1" presStyleIdx="2" presStyleCnt="3">
        <dgm:presLayoutVars>
          <dgm:chMax val="0"/>
          <dgm:chPref val="0"/>
          <dgm:bulletEnabled val="1"/>
        </dgm:presLayoutVars>
      </dgm:prSet>
      <dgm:spPr/>
    </dgm:pt>
  </dgm:ptLst>
  <dgm:cxnLst>
    <dgm:cxn modelId="{7D19F500-A888-4BC9-9FFE-E26CF7A5AE2D}" srcId="{AFB75470-18BE-4FEF-B84A-9A7E759AA2F1}" destId="{EA7AED05-0CEB-4B43-8891-8F19BF7FE35E}" srcOrd="0" destOrd="0" parTransId="{E5EFC13A-1E5B-4A02-A1CA-AA4D4338359F}" sibTransId="{D2EA5272-B2F2-4642-8F33-390B746FD7D4}"/>
    <dgm:cxn modelId="{A74F6C03-36E3-4C75-A160-9A9D116279C5}" type="presOf" srcId="{0136911C-D02B-4A67-9BE8-48A0EDF98086}" destId="{1C9F340A-DBDC-43CE-B1C8-66B6ADD41743}" srcOrd="0" destOrd="0" presId="urn:microsoft.com/office/officeart/2009/3/layout/IncreasingArrowsProcess"/>
    <dgm:cxn modelId="{EF2DD10A-F963-468D-93A0-89954F1D9AF3}" type="presOf" srcId="{F7198A02-1D3C-4CA3-A910-8037CED9CCC1}" destId="{F0CF1E0C-20F3-4388-98DE-E3B3F524B69B}" srcOrd="0" destOrd="4" presId="urn:microsoft.com/office/officeart/2009/3/layout/IncreasingArrowsProcess"/>
    <dgm:cxn modelId="{72207F27-510B-403F-B92E-FD2F026653DB}" srcId="{4A7C14FE-C833-4DEA-A465-966D1F234875}" destId="{D580C46A-0811-4CA3-B438-6691F73D8D7B}" srcOrd="1" destOrd="0" parTransId="{C40BBA91-EE04-40C6-B2AA-F49CE8BBFE28}" sibTransId="{F21291B7-F41C-4174-809A-E04FCACB0B21}"/>
    <dgm:cxn modelId="{36C91128-87F9-44CC-B2FE-1EA827852423}" type="presOf" srcId="{D88A11F7-B244-42AA-9BCB-7EA812195614}" destId="{F0CF1E0C-20F3-4388-98DE-E3B3F524B69B}" srcOrd="0" destOrd="5" presId="urn:microsoft.com/office/officeart/2009/3/layout/IncreasingArrowsProcess"/>
    <dgm:cxn modelId="{42DFFA2E-671C-4719-B4AC-E809EB8CE81A}" type="presOf" srcId="{0020C008-897C-4740-AA25-016797BE6ACE}" destId="{9919484C-B556-480F-84BC-548DEBE11A09}" srcOrd="0" destOrd="1" presId="urn:microsoft.com/office/officeart/2009/3/layout/IncreasingArrowsProcess"/>
    <dgm:cxn modelId="{6F84F032-7013-47E1-AADD-6C19129A6F26}" srcId="{EA7AED05-0CEB-4B43-8891-8F19BF7FE35E}" destId="{F7198A02-1D3C-4CA3-A910-8037CED9CCC1}" srcOrd="3" destOrd="0" parTransId="{46C24A2C-DEE4-427A-B891-995243DB0FF2}" sibTransId="{E2B6EDBD-0D09-4A9A-B413-24AA5A29607C}"/>
    <dgm:cxn modelId="{4D43903B-8144-4B75-AF10-119C58D6C184}" type="presOf" srcId="{42D593AA-E00B-4FE6-B267-F2F139C7E090}" destId="{9919484C-B556-480F-84BC-548DEBE11A09}" srcOrd="0" destOrd="3" presId="urn:microsoft.com/office/officeart/2009/3/layout/IncreasingArrowsProcess"/>
    <dgm:cxn modelId="{D44D8760-D76A-46C6-9F23-4C2D6262D8B6}" srcId="{4A7C14FE-C833-4DEA-A465-966D1F234875}" destId="{0020C008-897C-4740-AA25-016797BE6ACE}" srcOrd="0" destOrd="0" parTransId="{07CCF078-43F7-4008-8CE3-27F353C20DF9}" sibTransId="{D45F8326-0B86-48D8-8FE4-425AFC522F0F}"/>
    <dgm:cxn modelId="{9BB58C4B-A6D1-4228-922F-2F108EFDC00D}" srcId="{0136911C-D02B-4A67-9BE8-48A0EDF98086}" destId="{A6A5608C-A32D-4D49-B964-9FEABC73BD74}" srcOrd="2" destOrd="0" parTransId="{DA5E2941-7706-41A7-B551-34798B22F84F}" sibTransId="{3252ED90-89F5-4290-9D72-FF86887CA003}"/>
    <dgm:cxn modelId="{A2C7A44C-F183-41DD-A4D4-7CEA0C125DB2}" srcId="{0136911C-D02B-4A67-9BE8-48A0EDF98086}" destId="{856F9463-4C17-4A39-8F5D-A284D178A646}" srcOrd="1" destOrd="0" parTransId="{3F350950-713B-46E3-990D-B85FCF78287A}" sibTransId="{960E6827-6F42-4FE2-AC05-4FE8FB3C34E7}"/>
    <dgm:cxn modelId="{E8A6304E-01EA-4841-AA91-A561B7DDCFD3}" type="presOf" srcId="{7EADB3B2-0BE2-4D56-BC6E-D4AEB418D5EE}" destId="{F0CF1E0C-20F3-4388-98DE-E3B3F524B69B}" srcOrd="0" destOrd="2" presId="urn:microsoft.com/office/officeart/2009/3/layout/IncreasingArrowsProcess"/>
    <dgm:cxn modelId="{C08B476F-C5B6-49C7-B5D2-BF3D39C9675B}" type="presOf" srcId="{AFB75470-18BE-4FEF-B84A-9A7E759AA2F1}" destId="{EDC82DA5-B320-4BD4-81F5-67657843B5B6}" srcOrd="0" destOrd="0" presId="urn:microsoft.com/office/officeart/2009/3/layout/IncreasingArrowsProcess"/>
    <dgm:cxn modelId="{72C3C76F-D442-47EF-A31F-178341277F1A}" srcId="{EA7AED05-0CEB-4B43-8891-8F19BF7FE35E}" destId="{663ED157-2B6D-44FA-B218-EC9601979A55}" srcOrd="0" destOrd="0" parTransId="{7F42FBA8-176B-4F16-8941-544EC5A25924}" sibTransId="{CCA7CD5F-A7EA-4691-96ED-E7010917E219}"/>
    <dgm:cxn modelId="{F8C56858-E21B-463B-8D52-B07E821B7B79}" srcId="{EA7AED05-0CEB-4B43-8891-8F19BF7FE35E}" destId="{7EADB3B2-0BE2-4D56-BC6E-D4AEB418D5EE}" srcOrd="1" destOrd="0" parTransId="{1D9AD675-B834-4DC7-9294-A25F405051AC}" sibTransId="{FAB92D9C-B0AD-476A-B3F8-AC6E5851C300}"/>
    <dgm:cxn modelId="{BF91565A-B21B-45A2-895B-41D1276E333E}" type="presOf" srcId="{D580C46A-0811-4CA3-B438-6691F73D8D7B}" destId="{9919484C-B556-480F-84BC-548DEBE11A09}" srcOrd="0" destOrd="2" presId="urn:microsoft.com/office/officeart/2009/3/layout/IncreasingArrowsProcess"/>
    <dgm:cxn modelId="{AD2ABA5A-11FE-4FE1-8EE5-7A6A129AB66B}" srcId="{0136911C-D02B-4A67-9BE8-48A0EDF98086}" destId="{AFB75470-18BE-4FEF-B84A-9A7E759AA2F1}" srcOrd="0" destOrd="0" parTransId="{C29CB6E6-C0F0-4E80-A8A9-434EFC5C3937}" sibTransId="{CB516964-C6D0-499E-9321-7116711CD7B3}"/>
    <dgm:cxn modelId="{9448F57F-FD1A-4F83-858F-02D3F869E64F}" type="presOf" srcId="{82A490EF-54DE-49F9-99ED-E9CAE4A7E569}" destId="{F0CF1E0C-20F3-4388-98DE-E3B3F524B69B}" srcOrd="0" destOrd="6" presId="urn:microsoft.com/office/officeart/2009/3/layout/IncreasingArrowsProcess"/>
    <dgm:cxn modelId="{844DB485-16DB-455E-A54C-CDEA7720B42A}" type="presOf" srcId="{EA7AED05-0CEB-4B43-8891-8F19BF7FE35E}" destId="{F0CF1E0C-20F3-4388-98DE-E3B3F524B69B}" srcOrd="0" destOrd="0" presId="urn:microsoft.com/office/officeart/2009/3/layout/IncreasingArrowsProcess"/>
    <dgm:cxn modelId="{0CEE278B-290D-4C67-B065-3FECF5632C6E}" srcId="{4A7C14FE-C833-4DEA-A465-966D1F234875}" destId="{42D593AA-E00B-4FE6-B267-F2F139C7E090}" srcOrd="2" destOrd="0" parTransId="{4CD73AB3-F145-42FE-A0C6-591612EB470D}" sibTransId="{4B7A7D1E-AB82-42E2-B3CD-7347A0A13086}"/>
    <dgm:cxn modelId="{892E5592-A3D0-41DA-A873-6DE4B3E8DB3A}" srcId="{EA7AED05-0CEB-4B43-8891-8F19BF7FE35E}" destId="{D88A11F7-B244-42AA-9BCB-7EA812195614}" srcOrd="4" destOrd="0" parTransId="{8787AFBC-FB6F-4EB2-AFBE-E7B76830C21F}" sibTransId="{CC7B4C20-22A6-41A2-BFD7-A9C38EC3A5B5}"/>
    <dgm:cxn modelId="{A45C5E94-5289-49A2-91BF-2A4144173E45}" type="presOf" srcId="{AFCE7C73-9669-46B9-87D2-0B4AED2182D4}" destId="{9919484C-B556-480F-84BC-548DEBE11A09}" srcOrd="0" destOrd="4" presId="urn:microsoft.com/office/officeart/2009/3/layout/IncreasingArrowsProcess"/>
    <dgm:cxn modelId="{3D9657A8-C721-40FE-92C4-43D116B7F1AF}" type="presOf" srcId="{4A7C14FE-C833-4DEA-A465-966D1F234875}" destId="{9919484C-B556-480F-84BC-548DEBE11A09}" srcOrd="0" destOrd="0" presId="urn:microsoft.com/office/officeart/2009/3/layout/IncreasingArrowsProcess"/>
    <dgm:cxn modelId="{BA04A2B3-8779-4EB9-B6E4-EE264A4FE1C2}" srcId="{856F9463-4C17-4A39-8F5D-A284D178A646}" destId="{2E548BDC-3710-44B5-8D4F-FE66E8AA638B}" srcOrd="0" destOrd="0" parTransId="{8BCA3289-81E0-444D-A811-287661CA46FF}" sibTransId="{3162F682-9A58-45F6-B775-F251D40C8CD9}"/>
    <dgm:cxn modelId="{DBDB57B5-BDB9-4E90-995E-A1F7385FC474}" type="presOf" srcId="{856F9463-4C17-4A39-8F5D-A284D178A646}" destId="{A8DB0CBB-385E-43B5-9094-DC2B47F10058}" srcOrd="0" destOrd="0" presId="urn:microsoft.com/office/officeart/2009/3/layout/IncreasingArrowsProcess"/>
    <dgm:cxn modelId="{13B321BB-E563-45C8-8392-30736CCB738E}" type="presOf" srcId="{72F58341-C75D-4817-B4B6-291DE1F51870}" destId="{F0CF1E0C-20F3-4388-98DE-E3B3F524B69B}" srcOrd="0" destOrd="3" presId="urn:microsoft.com/office/officeart/2009/3/layout/IncreasingArrowsProcess"/>
    <dgm:cxn modelId="{A47095C2-5959-4014-9C94-9745A65BFACA}" srcId="{A6A5608C-A32D-4D49-B964-9FEABC73BD74}" destId="{4A7C14FE-C833-4DEA-A465-966D1F234875}" srcOrd="0" destOrd="0" parTransId="{8DD36CE6-7643-46ED-966E-81B6FBDDC198}" sibTransId="{FCB9D9BA-202E-4743-91CD-5DD318DA7EC1}"/>
    <dgm:cxn modelId="{1AC66FCF-B263-4E54-BFB4-A7221CC8495D}" srcId="{4A7C14FE-C833-4DEA-A465-966D1F234875}" destId="{AFCE7C73-9669-46B9-87D2-0B4AED2182D4}" srcOrd="3" destOrd="0" parTransId="{D7B17437-D310-41B5-8CD4-6BD095B6068B}" sibTransId="{25CB0762-D024-43F5-8629-0FE8DDBDFC13}"/>
    <dgm:cxn modelId="{60D10FDA-F150-4FD5-9A85-6AA7939A5070}" type="presOf" srcId="{2E548BDC-3710-44B5-8D4F-FE66E8AA638B}" destId="{E1DBC15D-7FA6-4DDD-A3FB-0388168C6D57}" srcOrd="0" destOrd="0" presId="urn:microsoft.com/office/officeart/2009/3/layout/IncreasingArrowsProcess"/>
    <dgm:cxn modelId="{772F59DB-7A62-4E39-A1C8-D069825FD3DE}" srcId="{EA7AED05-0CEB-4B43-8891-8F19BF7FE35E}" destId="{82A490EF-54DE-49F9-99ED-E9CAE4A7E569}" srcOrd="5" destOrd="0" parTransId="{F5E6D7DE-71E2-4BF1-89C5-043F7EAC1D91}" sibTransId="{81F26C87-8D2E-46B2-BE02-7B8A465DD027}"/>
    <dgm:cxn modelId="{1D0660E4-12B4-40F1-8AAB-DC5FA2E65B56}" type="presOf" srcId="{663ED157-2B6D-44FA-B218-EC9601979A55}" destId="{F0CF1E0C-20F3-4388-98DE-E3B3F524B69B}" srcOrd="0" destOrd="1" presId="urn:microsoft.com/office/officeart/2009/3/layout/IncreasingArrowsProcess"/>
    <dgm:cxn modelId="{E509FDE6-9E4A-4306-B680-8F588625ABAD}" srcId="{EA7AED05-0CEB-4B43-8891-8F19BF7FE35E}" destId="{72F58341-C75D-4817-B4B6-291DE1F51870}" srcOrd="2" destOrd="0" parTransId="{CB96D959-2851-45DD-849A-097CC64D7037}" sibTransId="{37167F45-A15A-4D69-B8B3-A2DF8246E67A}"/>
    <dgm:cxn modelId="{ED80EBF9-BF5D-4D93-B770-E517F6E6A12D}" type="presOf" srcId="{A6A5608C-A32D-4D49-B964-9FEABC73BD74}" destId="{EBCB5ED6-9F6E-46C6-AF75-7E41794DB7AA}" srcOrd="0" destOrd="0" presId="urn:microsoft.com/office/officeart/2009/3/layout/IncreasingArrowsProcess"/>
    <dgm:cxn modelId="{EDF4F23C-B626-432A-B0AC-2E4794DDF350}" type="presParOf" srcId="{1C9F340A-DBDC-43CE-B1C8-66B6ADD41743}" destId="{EDC82DA5-B320-4BD4-81F5-67657843B5B6}" srcOrd="0" destOrd="0" presId="urn:microsoft.com/office/officeart/2009/3/layout/IncreasingArrowsProcess"/>
    <dgm:cxn modelId="{8CF173A3-2033-4213-BF25-4DA082273994}" type="presParOf" srcId="{1C9F340A-DBDC-43CE-B1C8-66B6ADD41743}" destId="{F0CF1E0C-20F3-4388-98DE-E3B3F524B69B}" srcOrd="1" destOrd="0" presId="urn:microsoft.com/office/officeart/2009/3/layout/IncreasingArrowsProcess"/>
    <dgm:cxn modelId="{B0815A60-007F-4B8E-A08C-D9303DA3BD9A}" type="presParOf" srcId="{1C9F340A-DBDC-43CE-B1C8-66B6ADD41743}" destId="{A8DB0CBB-385E-43B5-9094-DC2B47F10058}" srcOrd="2" destOrd="0" presId="urn:microsoft.com/office/officeart/2009/3/layout/IncreasingArrowsProcess"/>
    <dgm:cxn modelId="{85E2738A-A1BA-47AF-8548-710D2FB84BD4}" type="presParOf" srcId="{1C9F340A-DBDC-43CE-B1C8-66B6ADD41743}" destId="{E1DBC15D-7FA6-4DDD-A3FB-0388168C6D57}" srcOrd="3" destOrd="0" presId="urn:microsoft.com/office/officeart/2009/3/layout/IncreasingArrowsProcess"/>
    <dgm:cxn modelId="{B2E35062-3771-4CA1-AF6F-EA31AE60AA44}" type="presParOf" srcId="{1C9F340A-DBDC-43CE-B1C8-66B6ADD41743}" destId="{EBCB5ED6-9F6E-46C6-AF75-7E41794DB7AA}" srcOrd="4" destOrd="0" presId="urn:microsoft.com/office/officeart/2009/3/layout/IncreasingArrowsProcess"/>
    <dgm:cxn modelId="{0AAB9314-212B-4D92-9EC7-5C9696C3035A}" type="presParOf" srcId="{1C9F340A-DBDC-43CE-B1C8-66B6ADD41743}" destId="{9919484C-B556-480F-84BC-548DEBE11A09}" srcOrd="5" destOrd="0" presId="urn:microsoft.com/office/officeart/2009/3/layout/IncreasingArrows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9CC543-4B99-44E4-8E9E-042ECC804598}" type="doc">
      <dgm:prSet loTypeId="urn:microsoft.com/office/officeart/2005/8/layout/process5" loCatId="process" qsTypeId="urn:microsoft.com/office/officeart/2005/8/quickstyle/simple1" qsCatId="simple" csTypeId="urn:microsoft.com/office/officeart/2005/8/colors/accent0_1" csCatId="mainScheme" phldr="1"/>
      <dgm:spPr/>
      <dgm:t>
        <a:bodyPr/>
        <a:lstStyle/>
        <a:p>
          <a:endParaRPr lang="zh-CN" altLang="en-US"/>
        </a:p>
      </dgm:t>
    </dgm:pt>
    <dgm:pt modelId="{9249B751-1994-4C7D-8082-0117296DC9F5}">
      <dgm:prSet phldrT="[文本]"/>
      <dgm:spPr/>
      <dgm:t>
        <a:bodyPr/>
        <a:lstStyle/>
        <a:p>
          <a:r>
            <a:rPr lang="en-US" altLang="en-US" dirty="0"/>
            <a:t>Organize text</a:t>
          </a:r>
          <a:endParaRPr lang="zh-CN" altLang="en-US" dirty="0"/>
        </a:p>
      </dgm:t>
    </dgm:pt>
    <dgm:pt modelId="{CE9A84CC-8E94-4385-B6BD-CA874FE0A83F}" type="parTrans" cxnId="{4D69E308-35AF-46AB-BDF7-7590B2FE6342}">
      <dgm:prSet/>
      <dgm:spPr/>
      <dgm:t>
        <a:bodyPr/>
        <a:lstStyle/>
        <a:p>
          <a:endParaRPr lang="zh-CN" altLang="en-US"/>
        </a:p>
      </dgm:t>
    </dgm:pt>
    <dgm:pt modelId="{0A857E68-A239-44EC-9134-96199A662ED3}" type="sibTrans" cxnId="{4D69E308-35AF-46AB-BDF7-7590B2FE6342}">
      <dgm:prSet/>
      <dgm:spPr/>
      <dgm:t>
        <a:bodyPr/>
        <a:lstStyle/>
        <a:p>
          <a:endParaRPr lang="zh-CN" altLang="en-US"/>
        </a:p>
      </dgm:t>
    </dgm:pt>
    <dgm:pt modelId="{F808D7B4-8050-4ACC-96AC-0F7BB54B1DF6}">
      <dgm:prSet phldrT="[文本]"/>
      <dgm:spPr/>
      <dgm:t>
        <a:bodyPr/>
        <a:lstStyle/>
        <a:p>
          <a:r>
            <a:rPr lang="en-US" altLang="en-US" dirty="0"/>
            <a:t>Mark dangerous words</a:t>
          </a:r>
          <a:endParaRPr lang="zh-CN" altLang="en-US" dirty="0"/>
        </a:p>
      </dgm:t>
    </dgm:pt>
    <dgm:pt modelId="{99378A32-FFC7-45F1-9F7D-0A5D64892D6A}" type="parTrans" cxnId="{BC1700C7-8377-4076-9216-886ECB1CC883}">
      <dgm:prSet/>
      <dgm:spPr/>
      <dgm:t>
        <a:bodyPr/>
        <a:lstStyle/>
        <a:p>
          <a:endParaRPr lang="zh-CN" altLang="en-US"/>
        </a:p>
      </dgm:t>
    </dgm:pt>
    <dgm:pt modelId="{41669C6F-5077-4FF5-83EB-2D371353F03F}" type="sibTrans" cxnId="{BC1700C7-8377-4076-9216-886ECB1CC883}">
      <dgm:prSet/>
      <dgm:spPr/>
      <dgm:t>
        <a:bodyPr/>
        <a:lstStyle/>
        <a:p>
          <a:endParaRPr lang="zh-CN" altLang="en-US"/>
        </a:p>
      </dgm:t>
    </dgm:pt>
    <dgm:pt modelId="{570F8259-DCA5-4E71-9821-76253AFA02F5}">
      <dgm:prSet phldrT="[文本]"/>
      <dgm:spPr/>
      <dgm:t>
        <a:bodyPr/>
        <a:lstStyle/>
        <a:p>
          <a:r>
            <a:rPr lang="en-US" altLang="en-US" dirty="0"/>
            <a:t>Training BERT</a:t>
          </a:r>
          <a:endParaRPr lang="zh-CN" altLang="en-US" dirty="0"/>
        </a:p>
      </dgm:t>
    </dgm:pt>
    <dgm:pt modelId="{30FF7561-C798-40F3-9B40-14EA29C2A9F2}" type="parTrans" cxnId="{92855004-4518-4AF2-A7F0-99BB8524FFBC}">
      <dgm:prSet/>
      <dgm:spPr/>
      <dgm:t>
        <a:bodyPr/>
        <a:lstStyle/>
        <a:p>
          <a:endParaRPr lang="zh-CN" altLang="en-US"/>
        </a:p>
      </dgm:t>
    </dgm:pt>
    <dgm:pt modelId="{BA31F3C8-FE29-4445-9962-55F4B3171376}" type="sibTrans" cxnId="{92855004-4518-4AF2-A7F0-99BB8524FFBC}">
      <dgm:prSet/>
      <dgm:spPr/>
      <dgm:t>
        <a:bodyPr/>
        <a:lstStyle/>
        <a:p>
          <a:endParaRPr lang="zh-CN" altLang="en-US"/>
        </a:p>
      </dgm:t>
    </dgm:pt>
    <dgm:pt modelId="{5A144EBA-C31B-4393-8CF2-77C827FFF682}">
      <dgm:prSet phldrT="[文本]"/>
      <dgm:spPr/>
      <dgm:t>
        <a:bodyPr/>
        <a:lstStyle/>
        <a:p>
          <a:r>
            <a:rPr lang="en-US" altLang="en-US" dirty="0"/>
            <a:t>Output Threat Index</a:t>
          </a:r>
          <a:endParaRPr lang="zh-CN" altLang="en-US" dirty="0"/>
        </a:p>
      </dgm:t>
    </dgm:pt>
    <dgm:pt modelId="{ABEC2AAF-11D1-48B8-B20B-018F314BD361}" type="parTrans" cxnId="{C2FEEAFE-1F5A-47E6-9945-3ACD7CD3ABD8}">
      <dgm:prSet/>
      <dgm:spPr/>
      <dgm:t>
        <a:bodyPr/>
        <a:lstStyle/>
        <a:p>
          <a:endParaRPr lang="zh-CN" altLang="en-US"/>
        </a:p>
      </dgm:t>
    </dgm:pt>
    <dgm:pt modelId="{EBCC49D9-C2C0-4ABA-A5EE-5F0EB0B77EE7}" type="sibTrans" cxnId="{C2FEEAFE-1F5A-47E6-9945-3ACD7CD3ABD8}">
      <dgm:prSet/>
      <dgm:spPr/>
      <dgm:t>
        <a:bodyPr/>
        <a:lstStyle/>
        <a:p>
          <a:endParaRPr lang="zh-CN" altLang="en-US"/>
        </a:p>
      </dgm:t>
    </dgm:pt>
    <dgm:pt modelId="{13E177CD-9917-4C4C-8A7A-7D1300221DD2}" type="pres">
      <dgm:prSet presAssocID="{F59CC543-4B99-44E4-8E9E-042ECC804598}" presName="diagram" presStyleCnt="0">
        <dgm:presLayoutVars>
          <dgm:dir/>
          <dgm:resizeHandles val="exact"/>
        </dgm:presLayoutVars>
      </dgm:prSet>
      <dgm:spPr/>
    </dgm:pt>
    <dgm:pt modelId="{8D8D4D20-348F-41C6-9515-5FA7A0BD30D4}" type="pres">
      <dgm:prSet presAssocID="{9249B751-1994-4C7D-8082-0117296DC9F5}" presName="node" presStyleLbl="node1" presStyleIdx="0" presStyleCnt="4">
        <dgm:presLayoutVars>
          <dgm:bulletEnabled val="1"/>
        </dgm:presLayoutVars>
      </dgm:prSet>
      <dgm:spPr/>
    </dgm:pt>
    <dgm:pt modelId="{1450A58D-E805-4FED-9279-737E88DCD3A0}" type="pres">
      <dgm:prSet presAssocID="{0A857E68-A239-44EC-9134-96199A662ED3}" presName="sibTrans" presStyleLbl="sibTrans2D1" presStyleIdx="0" presStyleCnt="3"/>
      <dgm:spPr/>
    </dgm:pt>
    <dgm:pt modelId="{3D3B7931-523E-45C5-93B1-06676B84715D}" type="pres">
      <dgm:prSet presAssocID="{0A857E68-A239-44EC-9134-96199A662ED3}" presName="connectorText" presStyleLbl="sibTrans2D1" presStyleIdx="0" presStyleCnt="3"/>
      <dgm:spPr/>
    </dgm:pt>
    <dgm:pt modelId="{A244BE04-2BB3-43C8-8AA9-8EA3087B0E8F}" type="pres">
      <dgm:prSet presAssocID="{F808D7B4-8050-4ACC-96AC-0F7BB54B1DF6}" presName="node" presStyleLbl="node1" presStyleIdx="1" presStyleCnt="4">
        <dgm:presLayoutVars>
          <dgm:bulletEnabled val="1"/>
        </dgm:presLayoutVars>
      </dgm:prSet>
      <dgm:spPr/>
    </dgm:pt>
    <dgm:pt modelId="{A27B560F-C383-4036-992D-CCDB0F58D7FE}" type="pres">
      <dgm:prSet presAssocID="{41669C6F-5077-4FF5-83EB-2D371353F03F}" presName="sibTrans" presStyleLbl="sibTrans2D1" presStyleIdx="1" presStyleCnt="3"/>
      <dgm:spPr/>
    </dgm:pt>
    <dgm:pt modelId="{A4FBD2AC-393E-4255-A4CB-0556675EC31B}" type="pres">
      <dgm:prSet presAssocID="{41669C6F-5077-4FF5-83EB-2D371353F03F}" presName="connectorText" presStyleLbl="sibTrans2D1" presStyleIdx="1" presStyleCnt="3"/>
      <dgm:spPr/>
    </dgm:pt>
    <dgm:pt modelId="{3746679F-9E6A-4C45-8521-D3A3D14D6C34}" type="pres">
      <dgm:prSet presAssocID="{570F8259-DCA5-4E71-9821-76253AFA02F5}" presName="node" presStyleLbl="node1" presStyleIdx="2" presStyleCnt="4">
        <dgm:presLayoutVars>
          <dgm:bulletEnabled val="1"/>
        </dgm:presLayoutVars>
      </dgm:prSet>
      <dgm:spPr/>
    </dgm:pt>
    <dgm:pt modelId="{331AC944-744B-4AB2-9AB5-D8686396BF85}" type="pres">
      <dgm:prSet presAssocID="{BA31F3C8-FE29-4445-9962-55F4B3171376}" presName="sibTrans" presStyleLbl="sibTrans2D1" presStyleIdx="2" presStyleCnt="3"/>
      <dgm:spPr/>
    </dgm:pt>
    <dgm:pt modelId="{2EDCD373-03E8-4499-A47E-23F6A332FD89}" type="pres">
      <dgm:prSet presAssocID="{BA31F3C8-FE29-4445-9962-55F4B3171376}" presName="connectorText" presStyleLbl="sibTrans2D1" presStyleIdx="2" presStyleCnt="3"/>
      <dgm:spPr/>
    </dgm:pt>
    <dgm:pt modelId="{CF7AD414-ED83-497A-B737-213514F715DC}" type="pres">
      <dgm:prSet presAssocID="{5A144EBA-C31B-4393-8CF2-77C827FFF682}" presName="node" presStyleLbl="node1" presStyleIdx="3" presStyleCnt="4">
        <dgm:presLayoutVars>
          <dgm:bulletEnabled val="1"/>
        </dgm:presLayoutVars>
      </dgm:prSet>
      <dgm:spPr/>
    </dgm:pt>
  </dgm:ptLst>
  <dgm:cxnLst>
    <dgm:cxn modelId="{92855004-4518-4AF2-A7F0-99BB8524FFBC}" srcId="{F59CC543-4B99-44E4-8E9E-042ECC804598}" destId="{570F8259-DCA5-4E71-9821-76253AFA02F5}" srcOrd="2" destOrd="0" parTransId="{30FF7561-C798-40F3-9B40-14EA29C2A9F2}" sibTransId="{BA31F3C8-FE29-4445-9962-55F4B3171376}"/>
    <dgm:cxn modelId="{4D69E308-35AF-46AB-BDF7-7590B2FE6342}" srcId="{F59CC543-4B99-44E4-8E9E-042ECC804598}" destId="{9249B751-1994-4C7D-8082-0117296DC9F5}" srcOrd="0" destOrd="0" parTransId="{CE9A84CC-8E94-4385-B6BD-CA874FE0A83F}" sibTransId="{0A857E68-A239-44EC-9134-96199A662ED3}"/>
    <dgm:cxn modelId="{93A66C5B-3B79-462A-98EC-AE3922A51C14}" type="presOf" srcId="{F59CC543-4B99-44E4-8E9E-042ECC804598}" destId="{13E177CD-9917-4C4C-8A7A-7D1300221DD2}" srcOrd="0" destOrd="0" presId="urn:microsoft.com/office/officeart/2005/8/layout/process5"/>
    <dgm:cxn modelId="{943BB741-9828-4B3E-9465-D5B964F5F8AF}" type="presOf" srcId="{41669C6F-5077-4FF5-83EB-2D371353F03F}" destId="{A4FBD2AC-393E-4255-A4CB-0556675EC31B}" srcOrd="1" destOrd="0" presId="urn:microsoft.com/office/officeart/2005/8/layout/process5"/>
    <dgm:cxn modelId="{BA46C462-7E55-4E27-8D04-603EF988CD9D}" type="presOf" srcId="{BA31F3C8-FE29-4445-9962-55F4B3171376}" destId="{2EDCD373-03E8-4499-A47E-23F6A332FD89}" srcOrd="1" destOrd="0" presId="urn:microsoft.com/office/officeart/2005/8/layout/process5"/>
    <dgm:cxn modelId="{D4AE3763-DF76-49C2-A4B7-87DBA8A759E8}" type="presOf" srcId="{0A857E68-A239-44EC-9134-96199A662ED3}" destId="{3D3B7931-523E-45C5-93B1-06676B84715D}" srcOrd="1" destOrd="0" presId="urn:microsoft.com/office/officeart/2005/8/layout/process5"/>
    <dgm:cxn modelId="{029E176F-2802-484E-9731-E4495D6F1615}" type="presOf" srcId="{BA31F3C8-FE29-4445-9962-55F4B3171376}" destId="{331AC944-744B-4AB2-9AB5-D8686396BF85}" srcOrd="0" destOrd="0" presId="urn:microsoft.com/office/officeart/2005/8/layout/process5"/>
    <dgm:cxn modelId="{4F1C798A-889D-4422-A509-45D01E4C5C7F}" type="presOf" srcId="{570F8259-DCA5-4E71-9821-76253AFA02F5}" destId="{3746679F-9E6A-4C45-8521-D3A3D14D6C34}" srcOrd="0" destOrd="0" presId="urn:microsoft.com/office/officeart/2005/8/layout/process5"/>
    <dgm:cxn modelId="{DC73FA8E-9F10-489C-A6AA-0B17DB67A0E1}" type="presOf" srcId="{41669C6F-5077-4FF5-83EB-2D371353F03F}" destId="{A27B560F-C383-4036-992D-CCDB0F58D7FE}" srcOrd="0" destOrd="0" presId="urn:microsoft.com/office/officeart/2005/8/layout/process5"/>
    <dgm:cxn modelId="{1FD6F596-8184-4BCE-9BF1-659ED8507392}" type="presOf" srcId="{9249B751-1994-4C7D-8082-0117296DC9F5}" destId="{8D8D4D20-348F-41C6-9515-5FA7A0BD30D4}" srcOrd="0" destOrd="0" presId="urn:microsoft.com/office/officeart/2005/8/layout/process5"/>
    <dgm:cxn modelId="{2D98109C-4582-4373-821D-3B59754B9A04}" type="presOf" srcId="{5A144EBA-C31B-4393-8CF2-77C827FFF682}" destId="{CF7AD414-ED83-497A-B737-213514F715DC}" srcOrd="0" destOrd="0" presId="urn:microsoft.com/office/officeart/2005/8/layout/process5"/>
    <dgm:cxn modelId="{132DB3A3-7B99-43ED-BEDE-91AB8C93F1AD}" type="presOf" srcId="{0A857E68-A239-44EC-9134-96199A662ED3}" destId="{1450A58D-E805-4FED-9279-737E88DCD3A0}" srcOrd="0" destOrd="0" presId="urn:microsoft.com/office/officeart/2005/8/layout/process5"/>
    <dgm:cxn modelId="{BC1700C7-8377-4076-9216-886ECB1CC883}" srcId="{F59CC543-4B99-44E4-8E9E-042ECC804598}" destId="{F808D7B4-8050-4ACC-96AC-0F7BB54B1DF6}" srcOrd="1" destOrd="0" parTransId="{99378A32-FFC7-45F1-9F7D-0A5D64892D6A}" sibTransId="{41669C6F-5077-4FF5-83EB-2D371353F03F}"/>
    <dgm:cxn modelId="{73E07CD5-D35F-4BE8-BAEA-46E15BD6C41D}" type="presOf" srcId="{F808D7B4-8050-4ACC-96AC-0F7BB54B1DF6}" destId="{A244BE04-2BB3-43C8-8AA9-8EA3087B0E8F}" srcOrd="0" destOrd="0" presId="urn:microsoft.com/office/officeart/2005/8/layout/process5"/>
    <dgm:cxn modelId="{C2FEEAFE-1F5A-47E6-9945-3ACD7CD3ABD8}" srcId="{F59CC543-4B99-44E4-8E9E-042ECC804598}" destId="{5A144EBA-C31B-4393-8CF2-77C827FFF682}" srcOrd="3" destOrd="0" parTransId="{ABEC2AAF-11D1-48B8-B20B-018F314BD361}" sibTransId="{EBCC49D9-C2C0-4ABA-A5EE-5F0EB0B77EE7}"/>
    <dgm:cxn modelId="{4E2FF05E-3C12-4013-AF86-827CA6FE380B}" type="presParOf" srcId="{13E177CD-9917-4C4C-8A7A-7D1300221DD2}" destId="{8D8D4D20-348F-41C6-9515-5FA7A0BD30D4}" srcOrd="0" destOrd="0" presId="urn:microsoft.com/office/officeart/2005/8/layout/process5"/>
    <dgm:cxn modelId="{7AB1183D-AB33-4FAA-B5E7-611EE0A96D31}" type="presParOf" srcId="{13E177CD-9917-4C4C-8A7A-7D1300221DD2}" destId="{1450A58D-E805-4FED-9279-737E88DCD3A0}" srcOrd="1" destOrd="0" presId="urn:microsoft.com/office/officeart/2005/8/layout/process5"/>
    <dgm:cxn modelId="{B4F1F8A4-4B71-4138-8B81-86BF5C9EF1C4}" type="presParOf" srcId="{1450A58D-E805-4FED-9279-737E88DCD3A0}" destId="{3D3B7931-523E-45C5-93B1-06676B84715D}" srcOrd="0" destOrd="0" presId="urn:microsoft.com/office/officeart/2005/8/layout/process5"/>
    <dgm:cxn modelId="{0F88C2FC-E003-449A-A41C-6E011D0D927F}" type="presParOf" srcId="{13E177CD-9917-4C4C-8A7A-7D1300221DD2}" destId="{A244BE04-2BB3-43C8-8AA9-8EA3087B0E8F}" srcOrd="2" destOrd="0" presId="urn:microsoft.com/office/officeart/2005/8/layout/process5"/>
    <dgm:cxn modelId="{0B4B2C11-46AD-4BC7-B1AB-95038120E576}" type="presParOf" srcId="{13E177CD-9917-4C4C-8A7A-7D1300221DD2}" destId="{A27B560F-C383-4036-992D-CCDB0F58D7FE}" srcOrd="3" destOrd="0" presId="urn:microsoft.com/office/officeart/2005/8/layout/process5"/>
    <dgm:cxn modelId="{1CAE6E7C-FBE8-4B91-B913-CBE4D371558A}" type="presParOf" srcId="{A27B560F-C383-4036-992D-CCDB0F58D7FE}" destId="{A4FBD2AC-393E-4255-A4CB-0556675EC31B}" srcOrd="0" destOrd="0" presId="urn:microsoft.com/office/officeart/2005/8/layout/process5"/>
    <dgm:cxn modelId="{0C3ADEE0-F0BF-484B-8FC5-624F08C0F211}" type="presParOf" srcId="{13E177CD-9917-4C4C-8A7A-7D1300221DD2}" destId="{3746679F-9E6A-4C45-8521-D3A3D14D6C34}" srcOrd="4" destOrd="0" presId="urn:microsoft.com/office/officeart/2005/8/layout/process5"/>
    <dgm:cxn modelId="{DA0E7451-68AC-47FC-AF71-D97177549F59}" type="presParOf" srcId="{13E177CD-9917-4C4C-8A7A-7D1300221DD2}" destId="{331AC944-744B-4AB2-9AB5-D8686396BF85}" srcOrd="5" destOrd="0" presId="urn:microsoft.com/office/officeart/2005/8/layout/process5"/>
    <dgm:cxn modelId="{B00A95C5-3320-4CAE-8597-567AA29B08C9}" type="presParOf" srcId="{331AC944-744B-4AB2-9AB5-D8686396BF85}" destId="{2EDCD373-03E8-4499-A47E-23F6A332FD89}" srcOrd="0" destOrd="0" presId="urn:microsoft.com/office/officeart/2005/8/layout/process5"/>
    <dgm:cxn modelId="{7422610D-302B-49BB-AEC9-AD6453DED2E0}" type="presParOf" srcId="{13E177CD-9917-4C4C-8A7A-7D1300221DD2}" destId="{CF7AD414-ED83-497A-B737-213514F715DC}" srcOrd="6" destOrd="0" presId="urn:microsoft.com/office/officeart/2005/8/layout/process5"/>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C82DA5-B320-4BD4-81F5-67657843B5B6}">
      <dsp:nvSpPr>
        <dsp:cNvPr id="0" name=""/>
        <dsp:cNvSpPr/>
      </dsp:nvSpPr>
      <dsp:spPr>
        <a:xfrm>
          <a:off x="0" y="873739"/>
          <a:ext cx="9143676" cy="1331667"/>
        </a:xfrm>
        <a:prstGeom prst="rightArrow">
          <a:avLst>
            <a:gd name="adj1" fmla="val 50000"/>
            <a:gd name="adj2" fmla="val 5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254000" bIns="211402" numCol="1" spcCol="1270" anchor="ctr" anchorCtr="0">
          <a:noAutofit/>
        </a:bodyPr>
        <a:lstStyle/>
        <a:p>
          <a:pPr marL="0" lvl="0" indent="0" algn="l" defTabSz="1155700">
            <a:lnSpc>
              <a:spcPct val="90000"/>
            </a:lnSpc>
            <a:spcBef>
              <a:spcPct val="0"/>
            </a:spcBef>
            <a:spcAft>
              <a:spcPct val="35000"/>
            </a:spcAft>
            <a:buNone/>
          </a:pPr>
          <a:r>
            <a:rPr lang="en-US" altLang="en-US" sz="2600" b="1" kern="1200" dirty="0"/>
            <a:t>Dataset Construction</a:t>
          </a:r>
          <a:endParaRPr lang="zh-CN" altLang="en-US" sz="2600" b="1" kern="1200" dirty="0"/>
        </a:p>
      </dsp:txBody>
      <dsp:txXfrm>
        <a:off x="0" y="1206656"/>
        <a:ext cx="8810759" cy="665833"/>
      </dsp:txXfrm>
    </dsp:sp>
    <dsp:sp modelId="{F0CF1E0C-20F3-4388-98DE-E3B3F524B69B}">
      <dsp:nvSpPr>
        <dsp:cNvPr id="0" name=""/>
        <dsp:cNvSpPr/>
      </dsp:nvSpPr>
      <dsp:spPr>
        <a:xfrm>
          <a:off x="26516" y="1901499"/>
          <a:ext cx="2816252" cy="2565282"/>
        </a:xfrm>
        <a:prstGeom prst="rect">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altLang="en-US" sz="2500" kern="1200" dirty="0"/>
            <a:t>Integration Group:</a:t>
          </a:r>
          <a:endParaRPr lang="zh-CN" altLang="en-US" sz="2500" kern="1200" dirty="0"/>
        </a:p>
        <a:p>
          <a:pPr marL="228600" lvl="1" indent="-228600" algn="l" defTabSz="889000">
            <a:lnSpc>
              <a:spcPct val="90000"/>
            </a:lnSpc>
            <a:spcBef>
              <a:spcPct val="0"/>
            </a:spcBef>
            <a:spcAft>
              <a:spcPct val="15000"/>
            </a:spcAft>
            <a:buChar char="•"/>
          </a:pPr>
          <a:r>
            <a:rPr lang="en-US" altLang="en-US" sz="2000" kern="1200" dirty="0"/>
            <a:t>Gender</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a:t>sexual</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a:t>ethnicity</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a:t>religion</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a:t>nationality </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a:t>age</a:t>
          </a:r>
          <a:endParaRPr lang="zh-CN" altLang="en-US" sz="2000" kern="1200" dirty="0"/>
        </a:p>
      </dsp:txBody>
      <dsp:txXfrm>
        <a:off x="26516" y="1901499"/>
        <a:ext cx="2816252" cy="2565282"/>
      </dsp:txXfrm>
    </dsp:sp>
    <dsp:sp modelId="{A8DB0CBB-385E-43B5-9094-DC2B47F10058}">
      <dsp:nvSpPr>
        <dsp:cNvPr id="0" name=""/>
        <dsp:cNvSpPr/>
      </dsp:nvSpPr>
      <dsp:spPr>
        <a:xfrm>
          <a:off x="2842769" y="1318480"/>
          <a:ext cx="6327424" cy="1331667"/>
        </a:xfrm>
        <a:prstGeom prst="rightArrow">
          <a:avLst>
            <a:gd name="adj1" fmla="val 50000"/>
            <a:gd name="adj2" fmla="val 5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254000" bIns="211402" numCol="1" spcCol="1270" anchor="ctr" anchorCtr="0">
          <a:noAutofit/>
        </a:bodyPr>
        <a:lstStyle/>
        <a:p>
          <a:pPr marL="0" lvl="0" indent="0" algn="l" defTabSz="1155700">
            <a:lnSpc>
              <a:spcPct val="90000"/>
            </a:lnSpc>
            <a:spcBef>
              <a:spcPct val="0"/>
            </a:spcBef>
            <a:spcAft>
              <a:spcPct val="35000"/>
            </a:spcAft>
            <a:buNone/>
          </a:pPr>
          <a:r>
            <a:rPr lang="en-US" altLang="en-US" sz="2600" b="1" kern="1200" dirty="0"/>
            <a:t>Exploratory Data Analysis</a:t>
          </a:r>
          <a:endParaRPr lang="zh-CN" altLang="en-US" sz="2600" b="1" kern="1200" dirty="0"/>
        </a:p>
      </dsp:txBody>
      <dsp:txXfrm>
        <a:off x="2842769" y="1651397"/>
        <a:ext cx="5994507" cy="665833"/>
      </dsp:txXfrm>
    </dsp:sp>
    <dsp:sp modelId="{E1DBC15D-7FA6-4DDD-A3FB-0388168C6D57}">
      <dsp:nvSpPr>
        <dsp:cNvPr id="0" name=""/>
        <dsp:cNvSpPr/>
      </dsp:nvSpPr>
      <dsp:spPr>
        <a:xfrm>
          <a:off x="2851217" y="2334050"/>
          <a:ext cx="2816252" cy="2215377"/>
        </a:xfrm>
        <a:prstGeom prst="rect">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altLang="en-US" sz="2500" kern="1200" dirty="0"/>
            <a:t>Sentiment Analysi</a:t>
          </a:r>
          <a:r>
            <a:rPr lang="en-US" altLang="zh-CN" sz="2500" kern="1200" dirty="0"/>
            <a:t>s</a:t>
          </a:r>
        </a:p>
        <a:p>
          <a:pPr marL="0" lvl="0" indent="0" algn="l" defTabSz="1111250">
            <a:lnSpc>
              <a:spcPct val="90000"/>
            </a:lnSpc>
            <a:spcBef>
              <a:spcPct val="0"/>
            </a:spcBef>
            <a:spcAft>
              <a:spcPct val="35000"/>
            </a:spcAft>
            <a:buNone/>
          </a:pPr>
          <a:r>
            <a:rPr lang="en-US" altLang="zh-CN" sz="2500" kern="1200" dirty="0"/>
            <a:t>Social Attitude Analysis</a:t>
          </a:r>
          <a:endParaRPr lang="zh-CN" altLang="en-US" sz="2500" kern="1200" dirty="0"/>
        </a:p>
      </dsp:txBody>
      <dsp:txXfrm>
        <a:off x="2851217" y="2334050"/>
        <a:ext cx="2816252" cy="2215377"/>
      </dsp:txXfrm>
    </dsp:sp>
    <dsp:sp modelId="{EBCB5ED6-9F6E-46C6-AF75-7E41794DB7AA}">
      <dsp:nvSpPr>
        <dsp:cNvPr id="0" name=""/>
        <dsp:cNvSpPr/>
      </dsp:nvSpPr>
      <dsp:spPr>
        <a:xfrm>
          <a:off x="5659021" y="1762370"/>
          <a:ext cx="3511171" cy="1331667"/>
        </a:xfrm>
        <a:prstGeom prst="rightArrow">
          <a:avLst>
            <a:gd name="adj1" fmla="val 50000"/>
            <a:gd name="adj2" fmla="val 5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254000" bIns="211402" numCol="1" spcCol="1270" anchor="ctr" anchorCtr="0">
          <a:noAutofit/>
        </a:bodyPr>
        <a:lstStyle/>
        <a:p>
          <a:pPr marL="0" lvl="0" indent="0" algn="l" defTabSz="1244600">
            <a:lnSpc>
              <a:spcPct val="90000"/>
            </a:lnSpc>
            <a:spcBef>
              <a:spcPct val="0"/>
            </a:spcBef>
            <a:spcAft>
              <a:spcPct val="35000"/>
            </a:spcAft>
            <a:buNone/>
          </a:pPr>
          <a:r>
            <a:rPr lang="en-US" altLang="en-US" sz="2800" b="1" kern="1200" dirty="0"/>
            <a:t>Model Training</a:t>
          </a:r>
          <a:endParaRPr lang="zh-CN" altLang="en-US" sz="2800" b="1" kern="1200" dirty="0"/>
        </a:p>
      </dsp:txBody>
      <dsp:txXfrm>
        <a:off x="5659021" y="2095287"/>
        <a:ext cx="3178254" cy="665833"/>
      </dsp:txXfrm>
    </dsp:sp>
    <dsp:sp modelId="{9919484C-B556-480F-84BC-548DEBE11A09}">
      <dsp:nvSpPr>
        <dsp:cNvPr id="0" name=""/>
        <dsp:cNvSpPr/>
      </dsp:nvSpPr>
      <dsp:spPr>
        <a:xfrm>
          <a:off x="5659021" y="2789277"/>
          <a:ext cx="2816252" cy="2527739"/>
        </a:xfrm>
        <a:prstGeom prst="rect">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altLang="en-US" sz="2500" kern="1200" dirty="0"/>
            <a:t>Choose  models</a:t>
          </a:r>
          <a:r>
            <a:rPr lang="zh-CN" altLang="en-US" sz="2500" kern="1200" dirty="0"/>
            <a:t>：</a:t>
          </a:r>
        </a:p>
        <a:p>
          <a:pPr marL="228600" lvl="1" indent="-228600" algn="l" defTabSz="889000">
            <a:lnSpc>
              <a:spcPct val="90000"/>
            </a:lnSpc>
            <a:spcBef>
              <a:spcPct val="0"/>
            </a:spcBef>
            <a:spcAft>
              <a:spcPct val="15000"/>
            </a:spcAft>
            <a:buChar char="•"/>
          </a:pPr>
          <a:r>
            <a:rPr lang="en-US" altLang="en-US" sz="2000" kern="1200" dirty="0"/>
            <a:t>Logistic Regressio</a:t>
          </a:r>
          <a:r>
            <a:rPr lang="en-US" altLang="zh-CN" sz="2000" kern="1200" dirty="0"/>
            <a:t>n</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err="1"/>
            <a:t>DistilBERT</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a:t>BERT</a:t>
          </a:r>
          <a:endParaRPr lang="zh-CN" altLang="en-US" sz="2000" kern="1200" dirty="0"/>
        </a:p>
        <a:p>
          <a:pPr marL="228600" lvl="1" indent="-228600" algn="l" defTabSz="889000">
            <a:lnSpc>
              <a:spcPct val="90000"/>
            </a:lnSpc>
            <a:spcBef>
              <a:spcPct val="0"/>
            </a:spcBef>
            <a:spcAft>
              <a:spcPct val="15000"/>
            </a:spcAft>
            <a:buChar char="•"/>
          </a:pPr>
          <a:r>
            <a:rPr lang="en-US" altLang="en-US" sz="2000" kern="1200" dirty="0"/>
            <a:t>ALBERT-V2</a:t>
          </a:r>
          <a:endParaRPr lang="zh-CN" altLang="en-US" sz="2000" kern="1200" dirty="0"/>
        </a:p>
      </dsp:txBody>
      <dsp:txXfrm>
        <a:off x="5659021" y="2789277"/>
        <a:ext cx="2816252" cy="25277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D4D20-348F-41C6-9515-5FA7A0BD30D4}">
      <dsp:nvSpPr>
        <dsp:cNvPr id="0" name=""/>
        <dsp:cNvSpPr/>
      </dsp:nvSpPr>
      <dsp:spPr>
        <a:xfrm>
          <a:off x="5447" y="969643"/>
          <a:ext cx="2381603" cy="1428962"/>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en-US" sz="2800" kern="1200" dirty="0"/>
            <a:t>Organize text</a:t>
          </a:r>
          <a:endParaRPr lang="zh-CN" altLang="en-US" sz="2800" kern="1200" dirty="0"/>
        </a:p>
      </dsp:txBody>
      <dsp:txXfrm>
        <a:off x="47300" y="1011496"/>
        <a:ext cx="2297897" cy="1345256"/>
      </dsp:txXfrm>
    </dsp:sp>
    <dsp:sp modelId="{1450A58D-E805-4FED-9279-737E88DCD3A0}">
      <dsp:nvSpPr>
        <dsp:cNvPr id="0" name=""/>
        <dsp:cNvSpPr/>
      </dsp:nvSpPr>
      <dsp:spPr>
        <a:xfrm>
          <a:off x="2596631" y="1388806"/>
          <a:ext cx="504899" cy="59063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2596631" y="1506933"/>
        <a:ext cx="353429" cy="354383"/>
      </dsp:txXfrm>
    </dsp:sp>
    <dsp:sp modelId="{A244BE04-2BB3-43C8-8AA9-8EA3087B0E8F}">
      <dsp:nvSpPr>
        <dsp:cNvPr id="0" name=""/>
        <dsp:cNvSpPr/>
      </dsp:nvSpPr>
      <dsp:spPr>
        <a:xfrm>
          <a:off x="3339691" y="969643"/>
          <a:ext cx="2381603" cy="1428962"/>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en-US" sz="2800" kern="1200" dirty="0"/>
            <a:t>Mark dangerous words</a:t>
          </a:r>
          <a:endParaRPr lang="zh-CN" altLang="en-US" sz="2800" kern="1200" dirty="0"/>
        </a:p>
      </dsp:txBody>
      <dsp:txXfrm>
        <a:off x="3381544" y="1011496"/>
        <a:ext cx="2297897" cy="1345256"/>
      </dsp:txXfrm>
    </dsp:sp>
    <dsp:sp modelId="{A27B560F-C383-4036-992D-CCDB0F58D7FE}">
      <dsp:nvSpPr>
        <dsp:cNvPr id="0" name=""/>
        <dsp:cNvSpPr/>
      </dsp:nvSpPr>
      <dsp:spPr>
        <a:xfrm>
          <a:off x="5930876" y="1388806"/>
          <a:ext cx="504899" cy="59063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5930876" y="1506933"/>
        <a:ext cx="353429" cy="354383"/>
      </dsp:txXfrm>
    </dsp:sp>
    <dsp:sp modelId="{3746679F-9E6A-4C45-8521-D3A3D14D6C34}">
      <dsp:nvSpPr>
        <dsp:cNvPr id="0" name=""/>
        <dsp:cNvSpPr/>
      </dsp:nvSpPr>
      <dsp:spPr>
        <a:xfrm>
          <a:off x="6673936" y="969643"/>
          <a:ext cx="2381603" cy="1428962"/>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en-US" sz="2800" kern="1200" dirty="0"/>
            <a:t>Training BERT</a:t>
          </a:r>
          <a:endParaRPr lang="zh-CN" altLang="en-US" sz="2800" kern="1200" dirty="0"/>
        </a:p>
      </dsp:txBody>
      <dsp:txXfrm>
        <a:off x="6715789" y="1011496"/>
        <a:ext cx="2297897" cy="1345256"/>
      </dsp:txXfrm>
    </dsp:sp>
    <dsp:sp modelId="{331AC944-744B-4AB2-9AB5-D8686396BF85}">
      <dsp:nvSpPr>
        <dsp:cNvPr id="0" name=""/>
        <dsp:cNvSpPr/>
      </dsp:nvSpPr>
      <dsp:spPr>
        <a:xfrm>
          <a:off x="9265121" y="1388806"/>
          <a:ext cx="504899" cy="59063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9265121" y="1506933"/>
        <a:ext cx="353429" cy="354383"/>
      </dsp:txXfrm>
    </dsp:sp>
    <dsp:sp modelId="{CF7AD414-ED83-497A-B737-213514F715DC}">
      <dsp:nvSpPr>
        <dsp:cNvPr id="0" name=""/>
        <dsp:cNvSpPr/>
      </dsp:nvSpPr>
      <dsp:spPr>
        <a:xfrm>
          <a:off x="10008181" y="969643"/>
          <a:ext cx="2381603" cy="1428962"/>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en-US" sz="2800" kern="1200" dirty="0"/>
            <a:t>Output Threat Index</a:t>
          </a:r>
          <a:endParaRPr lang="zh-CN" altLang="en-US" sz="2800" kern="1200" dirty="0"/>
        </a:p>
      </dsp:txBody>
      <dsp:txXfrm>
        <a:off x="10050034" y="1011496"/>
        <a:ext cx="2297897" cy="1345256"/>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0 Landscape Poster - 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2939639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0 Landscape Poster -  3 column guid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2816288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8899">
          <p15:clr>
            <a:srgbClr val="FBAE40"/>
          </p15:clr>
        </p15:guide>
        <p15:guide id="2" pos="9353">
          <p15:clr>
            <a:srgbClr val="FBAE40"/>
          </p15:clr>
        </p15:guide>
        <p15:guide id="3" pos="17608">
          <p15:clr>
            <a:srgbClr val="FBAE40"/>
          </p15:clr>
        </p15:guide>
        <p15:guide id="4" pos="1806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0 Landscape Poster - 3 columns v2">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351" y="5857198"/>
            <a:ext cx="13104812" cy="76968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a:extLst>
              <a:ext uri="{C183D7F6-B498-43B3-948B-1728B52AA6E4}">
                <adec:decorative xmlns:adec="http://schemas.microsoft.com/office/drawing/2017/decorative" val="0"/>
              </a:ext>
            </a:extLst>
          </p:cNvPr>
          <p:cNvSpPr>
            <a:spLocks noGrp="1"/>
          </p:cNvSpPr>
          <p:nvPr>
            <p:ph sz="quarter" idx="18" hasCustomPrompt="1"/>
          </p:nvPr>
        </p:nvSpPr>
        <p:spPr>
          <a:xfrm>
            <a:off x="1022351" y="5857198"/>
            <a:ext cx="13104812" cy="770697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4290306"/>
            <a:ext cx="13104000" cy="133053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 name="Content Placeholder 4"/>
          <p:cNvSpPr>
            <a:spLocks noGrp="1"/>
          </p:cNvSpPr>
          <p:nvPr>
            <p:ph sz="quarter" idx="22" hasCustomPrompt="1"/>
          </p:nvPr>
        </p:nvSpPr>
        <p:spPr>
          <a:xfrm>
            <a:off x="1022400" y="14290306"/>
            <a:ext cx="13104000" cy="1330537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58565" y="5857198"/>
            <a:ext cx="13094134" cy="1333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57200" y="5857198"/>
            <a:ext cx="13095499" cy="133380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14858237" y="19889788"/>
            <a:ext cx="13094463" cy="7705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2"/>
          <p:cNvSpPr>
            <a:spLocks noGrp="1"/>
          </p:cNvSpPr>
          <p:nvPr>
            <p:ph sz="quarter" idx="20" hasCustomPrompt="1"/>
          </p:nvPr>
        </p:nvSpPr>
        <p:spPr>
          <a:xfrm>
            <a:off x="14858236" y="19889788"/>
            <a:ext cx="13094463" cy="770589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C183D7F6-B498-43B3-948B-1728B52AA6E4}">
                <adec:decorative xmlns:adec="http://schemas.microsoft.com/office/drawing/2017/decorative" val="1"/>
              </a:ext>
            </a:extLst>
          </p:cNvPr>
          <p:cNvSpPr/>
          <p:nvPr/>
        </p:nvSpPr>
        <p:spPr>
          <a:xfrm>
            <a:off x="28674000" y="5857198"/>
            <a:ext cx="13104000" cy="7706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2"/>
          <p:cNvSpPr>
            <a:spLocks noGrp="1"/>
          </p:cNvSpPr>
          <p:nvPr>
            <p:ph sz="quarter" idx="17" hasCustomPrompt="1"/>
          </p:nvPr>
        </p:nvSpPr>
        <p:spPr>
          <a:xfrm>
            <a:off x="28674000" y="5857198"/>
            <a:ext cx="13104000" cy="77069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2" name="Rectangle 21">
            <a:extLst>
              <a:ext uri="{C183D7F6-B498-43B3-948B-1728B52AA6E4}">
                <adec:decorative xmlns:adec="http://schemas.microsoft.com/office/drawing/2017/decorative" val="1"/>
              </a:ext>
            </a:extLst>
          </p:cNvPr>
          <p:cNvSpPr/>
          <p:nvPr/>
        </p:nvSpPr>
        <p:spPr>
          <a:xfrm>
            <a:off x="28674000" y="14290306"/>
            <a:ext cx="13104000" cy="7688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2"/>
          <p:cNvSpPr>
            <a:spLocks noGrp="1"/>
          </p:cNvSpPr>
          <p:nvPr>
            <p:ph sz="quarter" idx="19" hasCustomPrompt="1"/>
          </p:nvPr>
        </p:nvSpPr>
        <p:spPr>
          <a:xfrm>
            <a:off x="28674000" y="14290306"/>
            <a:ext cx="13104000" cy="76886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74000" y="22698000"/>
            <a:ext cx="13104000" cy="48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74000" y="22698075"/>
            <a:ext cx="13104000" cy="489760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396510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guide id="2" pos="8899">
          <p15:clr>
            <a:srgbClr val="FBAE40"/>
          </p15:clr>
        </p15:guide>
        <p15:guide id="3" pos="9353">
          <p15:clr>
            <a:srgbClr val="FBAE40"/>
          </p15:clr>
        </p15:guide>
        <p15:guide id="4" pos="17608">
          <p15:clr>
            <a:srgbClr val="FBAE40"/>
          </p15:clr>
        </p15:guide>
        <p15:guide id="5" pos="180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0 Landscape Poster -  4 column guid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descr="Authors"/>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descr="Department or institution"/>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descr="Exclusion area"/>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descr="Contact details"/>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descr="Collaborator logos"/>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5968392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13254">
          <p15:clr>
            <a:srgbClr val="FBAE40"/>
          </p15:clr>
        </p15:guide>
        <p15:guide id="41" pos="13707">
          <p15:clr>
            <a:srgbClr val="FBAE40"/>
          </p15:clr>
        </p15:guide>
        <p15:guide id="42" pos="6722">
          <p15:clr>
            <a:srgbClr val="FBAE40"/>
          </p15:clr>
        </p15:guide>
        <p15:guide id="43" pos="7176">
          <p15:clr>
            <a:srgbClr val="FBAE40"/>
          </p15:clr>
        </p15:guide>
        <p15:guide id="44" pos="20239">
          <p15:clr>
            <a:srgbClr val="FBAE40"/>
          </p15:clr>
        </p15:guide>
        <p15:guide id="45" pos="1978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0 Landscape Poster -  4 columns v1">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GB" dirty="0"/>
              <a:t> </a:t>
            </a:r>
            <a:r>
              <a:rPr lang="en-US" dirty="0"/>
              <a:t>–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 name="Rectangle 1">
            <a:extLst>
              <a:ext uri="{C183D7F6-B498-43B3-948B-1728B52AA6E4}">
                <adec:decorative xmlns:adec="http://schemas.microsoft.com/office/drawing/2017/decorative" val="1"/>
              </a:ext>
            </a:extLst>
          </p:cNvPr>
          <p:cNvSpPr/>
          <p:nvPr/>
        </p:nvSpPr>
        <p:spPr>
          <a:xfrm>
            <a:off x="1022400"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Content Placeholder 3"/>
          <p:cNvSpPr>
            <a:spLocks noGrp="1"/>
          </p:cNvSpPr>
          <p:nvPr>
            <p:ph sz="quarter" idx="15" hasCustomPrompt="1"/>
          </p:nvPr>
        </p:nvSpPr>
        <p:spPr>
          <a:xfrm>
            <a:off x="1022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i="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11417536" y="5856016"/>
            <a:ext cx="9623189"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6" hasCustomPrompt="1"/>
          </p:nvPr>
        </p:nvSpPr>
        <p:spPr>
          <a:xfrm>
            <a:off x="11417535" y="5856016"/>
            <a:ext cx="9623189"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8" name="Rectangle 17">
            <a:extLst>
              <a:ext uri="{C183D7F6-B498-43B3-948B-1728B52AA6E4}">
                <adec:decorative xmlns:adec="http://schemas.microsoft.com/office/drawing/2017/decorative" val="1"/>
              </a:ext>
            </a:extLst>
          </p:cNvPr>
          <p:cNvSpPr/>
          <p:nvPr/>
        </p:nvSpPr>
        <p:spPr>
          <a:xfrm>
            <a:off x="21743509"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 name="Content Placeholder 3"/>
          <p:cNvSpPr>
            <a:spLocks noGrp="1"/>
          </p:cNvSpPr>
          <p:nvPr>
            <p:ph sz="quarter" idx="17" hasCustomPrompt="1"/>
          </p:nvPr>
        </p:nvSpPr>
        <p:spPr>
          <a:xfrm>
            <a:off x="21743509"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Rectangle 19">
            <a:extLst>
              <a:ext uri="{C183D7F6-B498-43B3-948B-1728B52AA6E4}">
                <adec:decorative xmlns:adec="http://schemas.microsoft.com/office/drawing/2017/decorative" val="1"/>
              </a:ext>
            </a:extLst>
          </p:cNvPr>
          <p:cNvSpPr/>
          <p:nvPr/>
        </p:nvSpPr>
        <p:spPr>
          <a:xfrm>
            <a:off x="32127972"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3"/>
          <p:cNvSpPr>
            <a:spLocks noGrp="1"/>
          </p:cNvSpPr>
          <p:nvPr>
            <p:ph sz="quarter" idx="18" hasCustomPrompt="1"/>
          </p:nvPr>
        </p:nvSpPr>
        <p:spPr>
          <a:xfrm>
            <a:off x="32126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801128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15:clr>
            <a:srgbClr val="FBAE40"/>
          </p15:clr>
        </p15:guide>
        <p15:guide id="40" orient="horz" pos="3684">
          <p15:clr>
            <a:srgbClr val="FBAE40"/>
          </p15:clr>
        </p15:guide>
        <p15:guide id="41" pos="13254">
          <p15:clr>
            <a:srgbClr val="FBAE40"/>
          </p15:clr>
        </p15:guide>
        <p15:guide id="42" pos="13707">
          <p15:clr>
            <a:srgbClr val="FBAE40"/>
          </p15:clr>
        </p15:guide>
        <p15:guide id="45" pos="19785">
          <p15:clr>
            <a:srgbClr val="FBAE40"/>
          </p15:clr>
        </p15:guide>
        <p15:guide id="46" pos="20239">
          <p15:clr>
            <a:srgbClr val="FBAE40"/>
          </p15:clr>
        </p15:guide>
        <p15:guide id="47" pos="7176">
          <p15:clr>
            <a:srgbClr val="FBAE40"/>
          </p15:clr>
        </p15:guide>
        <p15:guide id="48" pos="672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0 Landscape Poster - 3 columns, 7 box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1029757"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9757"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1022400" y="22698075"/>
            <a:ext cx="9647284" cy="4897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8075"/>
            <a:ext cx="9647284" cy="48974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403021" y="5857200"/>
            <a:ext cx="20005667" cy="21738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403021" y="5857200"/>
            <a:ext cx="20005667" cy="217383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1435"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1435"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7" name="Rectangle 36">
            <a:extLst>
              <a:ext uri="{C183D7F6-B498-43B3-948B-1728B52AA6E4}">
                <adec:decorative xmlns:adec="http://schemas.microsoft.com/office/drawing/2017/decorative" val="1"/>
              </a:ext>
            </a:extLst>
          </p:cNvPr>
          <p:cNvSpPr/>
          <p:nvPr/>
        </p:nvSpPr>
        <p:spPr>
          <a:xfrm>
            <a:off x="32130000" y="11456066"/>
            <a:ext cx="9647284"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0000" y="11456066"/>
            <a:ext cx="9647284"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9" name="Rectangle 38">
            <a:extLst>
              <a:ext uri="{C183D7F6-B498-43B3-948B-1728B52AA6E4}">
                <adec:decorative xmlns:adec="http://schemas.microsoft.com/office/drawing/2017/decorative" val="1"/>
              </a:ext>
            </a:extLst>
          </p:cNvPr>
          <p:cNvSpPr/>
          <p:nvPr/>
        </p:nvSpPr>
        <p:spPr>
          <a:xfrm>
            <a:off x="32130000" y="19920313"/>
            <a:ext cx="9647284" cy="767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0000" y="19919601"/>
            <a:ext cx="9647284" cy="767591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3573721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7176">
          <p15:clr>
            <a:srgbClr val="FBAE40"/>
          </p15:clr>
        </p15:guide>
        <p15:guide id="41" pos="19785">
          <p15:clr>
            <a:srgbClr val="FBAE40"/>
          </p15:clr>
        </p15:guide>
        <p15:guide id="42" pos="6722">
          <p15:clr>
            <a:srgbClr val="FBAE40"/>
          </p15:clr>
        </p15:guide>
        <p15:guide id="43" pos="202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0 Landscape Poster -  4 columns v2">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87007"/>
            <a:ext cx="9647284" cy="4906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87007"/>
            <a:ext cx="9647284" cy="49069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8" name="Rectangle 7">
            <a:extLst>
              <a:ext uri="{C183D7F6-B498-43B3-948B-1728B52AA6E4}">
                <adec:decorative xmlns:adec="http://schemas.microsoft.com/office/drawing/2017/decorative" val="1"/>
              </a:ext>
            </a:extLst>
          </p:cNvPr>
          <p:cNvSpPr/>
          <p:nvPr/>
        </p:nvSpPr>
        <p:spPr>
          <a:xfrm>
            <a:off x="11389828" y="5857200"/>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89828"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21764130" y="5857199"/>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21764130"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9088" y="5857200"/>
            <a:ext cx="9639150"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9088" y="5857200"/>
            <a:ext cx="9639150"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9088" y="11456066"/>
            <a:ext cx="9639150"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9088" y="11456066"/>
            <a:ext cx="9639150"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9088" y="19879186"/>
            <a:ext cx="9639150" cy="7717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9088" y="19879186"/>
            <a:ext cx="9639150" cy="771770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6366839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0" orient="horz" pos="3684">
          <p15:clr>
            <a:srgbClr val="FBAE40"/>
          </p15:clr>
        </p15:guide>
        <p15:guide id="41" pos="13254">
          <p15:clr>
            <a:srgbClr val="FBAE40"/>
          </p15:clr>
        </p15:guide>
        <p15:guide id="42" pos="19785">
          <p15:clr>
            <a:srgbClr val="FBAE40"/>
          </p15:clr>
        </p15:guide>
        <p15:guide id="43" pos="20239">
          <p15:clr>
            <a:srgbClr val="FBAE40"/>
          </p15:clr>
        </p15:guide>
        <p15:guide id="44" pos="1370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0 Landscape Poster - 3 columns, 11 boxes v1">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200"/>
            <a:ext cx="9647284" cy="770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200"/>
            <a:ext cx="9647284" cy="770627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95215"/>
            <a:ext cx="9647284" cy="49002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5215"/>
            <a:ext cx="9647284" cy="490029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2" name="Rectangle 11">
            <a:extLst>
              <a:ext uri="{C183D7F6-B498-43B3-948B-1728B52AA6E4}">
                <adec:decorative xmlns:adec="http://schemas.microsoft.com/office/drawing/2017/decorative" val="1"/>
              </a:ext>
            </a:extLst>
          </p:cNvPr>
          <p:cNvSpPr/>
          <p:nvPr/>
        </p:nvSpPr>
        <p:spPr>
          <a:xfrm>
            <a:off x="11392485" y="5857200"/>
            <a:ext cx="6169504"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11392485" y="5857200"/>
            <a:ext cx="6169504"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6" name="Rectangle 25">
            <a:extLst>
              <a:ext uri="{C183D7F6-B498-43B3-948B-1728B52AA6E4}">
                <adec:decorative xmlns:adec="http://schemas.microsoft.com/office/drawing/2017/decorative" val="1"/>
              </a:ext>
            </a:extLst>
          </p:cNvPr>
          <p:cNvSpPr/>
          <p:nvPr/>
        </p:nvSpPr>
        <p:spPr>
          <a:xfrm>
            <a:off x="18313200"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7" name="Content Placeholder 3"/>
          <p:cNvSpPr>
            <a:spLocks noGrp="1"/>
          </p:cNvSpPr>
          <p:nvPr>
            <p:ph sz="quarter" idx="26" hasCustomPrompt="1"/>
          </p:nvPr>
        </p:nvSpPr>
        <p:spPr>
          <a:xfrm>
            <a:off x="18313200"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5238859"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3"/>
          <p:cNvSpPr>
            <a:spLocks noGrp="1"/>
          </p:cNvSpPr>
          <p:nvPr>
            <p:ph sz="quarter" idx="27" hasCustomPrompt="1"/>
          </p:nvPr>
        </p:nvSpPr>
        <p:spPr>
          <a:xfrm>
            <a:off x="25238859"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392484"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92484"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21764940"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3"/>
          <p:cNvSpPr>
            <a:spLocks noGrp="1"/>
          </p:cNvSpPr>
          <p:nvPr>
            <p:ph sz="quarter" idx="25" hasCustomPrompt="1"/>
          </p:nvPr>
        </p:nvSpPr>
        <p:spPr>
          <a:xfrm>
            <a:off x="21764940"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4764"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4764"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4764" y="11478368"/>
            <a:ext cx="9647284" cy="76922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4764" y="11478368"/>
            <a:ext cx="9647284" cy="76922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4764" y="19879943"/>
            <a:ext cx="9647284" cy="77155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4764" y="19879943"/>
            <a:ext cx="9647284" cy="77155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195176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os="6722">
          <p15:clr>
            <a:srgbClr val="FBAE40"/>
          </p15:clr>
        </p15:guide>
        <p15:guide id="41" pos="7176">
          <p15:clr>
            <a:srgbClr val="FBAE40"/>
          </p15:clr>
        </p15:guide>
        <p15:guide id="45" pos="19785">
          <p15:clr>
            <a:srgbClr val="FBAE40"/>
          </p15:clr>
        </p15:guide>
        <p15:guide id="46" pos="202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0 Landscape Poster -  3 columns, 13 box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indent="0">
              <a:buNone/>
              <a:defRPr sz="4800" b="1" baseline="0">
                <a:solidFill>
                  <a:schemeClr val="bg1"/>
                </a:solidFill>
                <a:latin typeface="+mj-lt"/>
              </a:defRPr>
            </a:lvl1pPr>
          </a:lstStyle>
          <a:p>
            <a:pPr lvl="0"/>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400" y="5857200"/>
            <a:ext cx="13104763" cy="10474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p:cNvSpPr>
            <a:spLocks noGrp="1"/>
          </p:cNvSpPr>
          <p:nvPr>
            <p:ph sz="quarter" idx="18" hasCustomPrompt="1"/>
          </p:nvPr>
        </p:nvSpPr>
        <p:spPr>
          <a:xfrm>
            <a:off x="1022400" y="5857200"/>
            <a:ext cx="13104763" cy="104742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7077765"/>
            <a:ext cx="6192788" cy="104993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6" name="Content Placeholder 2"/>
          <p:cNvSpPr>
            <a:spLocks noGrp="1"/>
          </p:cNvSpPr>
          <p:nvPr>
            <p:ph sz="quarter" idx="22" hasCustomPrompt="1"/>
          </p:nvPr>
        </p:nvSpPr>
        <p:spPr>
          <a:xfrm>
            <a:off x="1022400" y="17078609"/>
            <a:ext cx="6192788" cy="1049853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7" name="Rectangle 26">
            <a:extLst>
              <a:ext uri="{C183D7F6-B498-43B3-948B-1728B52AA6E4}">
                <adec:decorative xmlns:adec="http://schemas.microsoft.com/office/drawing/2017/decorative" val="1"/>
              </a:ext>
            </a:extLst>
          </p:cNvPr>
          <p:cNvSpPr/>
          <p:nvPr/>
        </p:nvSpPr>
        <p:spPr>
          <a:xfrm>
            <a:off x="7945349" y="17076920"/>
            <a:ext cx="6181814" cy="10500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0" name="Content Placeholder 2"/>
          <p:cNvSpPr>
            <a:spLocks noGrp="1"/>
          </p:cNvSpPr>
          <p:nvPr>
            <p:ph sz="quarter" idx="23" hasCustomPrompt="1"/>
          </p:nvPr>
        </p:nvSpPr>
        <p:spPr>
          <a:xfrm>
            <a:off x="7945349" y="17077765"/>
            <a:ext cx="6181814" cy="1049937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61102" y="5857200"/>
            <a:ext cx="13090778" cy="76942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61102" y="5857200"/>
            <a:ext cx="13090778" cy="770003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3" name="Rectangle 42">
            <a:extLst>
              <a:ext uri="{C183D7F6-B498-43B3-948B-1728B52AA6E4}">
                <adec:decorative xmlns:adec="http://schemas.microsoft.com/office/drawing/2017/decorative" val="1"/>
              </a:ext>
            </a:extLst>
          </p:cNvPr>
          <p:cNvSpPr/>
          <p:nvPr/>
        </p:nvSpPr>
        <p:spPr>
          <a:xfrm>
            <a:off x="14861102" y="14273214"/>
            <a:ext cx="13104000" cy="133044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Content Placeholder 2"/>
          <p:cNvSpPr>
            <a:spLocks noGrp="1"/>
          </p:cNvSpPr>
          <p:nvPr>
            <p:ph sz="quarter" idx="30" hasCustomPrompt="1"/>
          </p:nvPr>
        </p:nvSpPr>
        <p:spPr>
          <a:xfrm>
            <a:off x="14861102" y="14273213"/>
            <a:ext cx="13104000" cy="133044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28689442" y="5857200"/>
            <a:ext cx="6176821"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2"/>
          <p:cNvSpPr>
            <a:spLocks noGrp="1"/>
          </p:cNvSpPr>
          <p:nvPr>
            <p:ph sz="quarter" idx="24" hasCustomPrompt="1"/>
          </p:nvPr>
        </p:nvSpPr>
        <p:spPr>
          <a:xfrm>
            <a:off x="28689442" y="5857200"/>
            <a:ext cx="6176821"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35603825" y="5857200"/>
            <a:ext cx="6177600"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2"/>
          <p:cNvSpPr>
            <a:spLocks noGrp="1"/>
          </p:cNvSpPr>
          <p:nvPr>
            <p:ph sz="quarter" idx="25" hasCustomPrompt="1"/>
          </p:nvPr>
        </p:nvSpPr>
        <p:spPr>
          <a:xfrm>
            <a:off x="35603825" y="5857200"/>
            <a:ext cx="6177600"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28689442" y="14273190"/>
            <a:ext cx="6176821" cy="4895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2"/>
          <p:cNvSpPr>
            <a:spLocks noGrp="1"/>
          </p:cNvSpPr>
          <p:nvPr>
            <p:ph sz="quarter" idx="26" hasCustomPrompt="1"/>
          </p:nvPr>
        </p:nvSpPr>
        <p:spPr>
          <a:xfrm>
            <a:off x="28689442" y="14273190"/>
            <a:ext cx="6176821" cy="48956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5603825" y="14273219"/>
            <a:ext cx="6177600" cy="4897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2"/>
          <p:cNvSpPr>
            <a:spLocks noGrp="1"/>
          </p:cNvSpPr>
          <p:nvPr>
            <p:ph sz="quarter" idx="27" hasCustomPrompt="1"/>
          </p:nvPr>
        </p:nvSpPr>
        <p:spPr>
          <a:xfrm>
            <a:off x="35603825" y="14273213"/>
            <a:ext cx="6177600" cy="48970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39" name="Rectangle 38">
            <a:extLst>
              <a:ext uri="{C183D7F6-B498-43B3-948B-1728B52AA6E4}">
                <adec:decorative xmlns:adec="http://schemas.microsoft.com/office/drawing/2017/decorative" val="1"/>
              </a:ext>
            </a:extLst>
          </p:cNvPr>
          <p:cNvSpPr/>
          <p:nvPr/>
        </p:nvSpPr>
        <p:spPr>
          <a:xfrm>
            <a:off x="28689442" y="19905965"/>
            <a:ext cx="6176821"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2"/>
          <p:cNvSpPr>
            <a:spLocks noGrp="1"/>
          </p:cNvSpPr>
          <p:nvPr>
            <p:ph sz="quarter" idx="28" hasCustomPrompt="1"/>
          </p:nvPr>
        </p:nvSpPr>
        <p:spPr>
          <a:xfrm>
            <a:off x="28689442" y="19905964"/>
            <a:ext cx="6176821"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1" name="Rectangle 40">
            <a:extLst>
              <a:ext uri="{C183D7F6-B498-43B3-948B-1728B52AA6E4}">
                <adec:decorative xmlns:adec="http://schemas.microsoft.com/office/drawing/2017/decorative" val="1"/>
              </a:ext>
            </a:extLst>
          </p:cNvPr>
          <p:cNvSpPr/>
          <p:nvPr/>
        </p:nvSpPr>
        <p:spPr>
          <a:xfrm>
            <a:off x="35603825" y="19905965"/>
            <a:ext cx="6177600"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Content Placeholder 2"/>
          <p:cNvSpPr>
            <a:spLocks noGrp="1"/>
          </p:cNvSpPr>
          <p:nvPr>
            <p:ph sz="quarter" idx="29" hasCustomPrompt="1"/>
          </p:nvPr>
        </p:nvSpPr>
        <p:spPr>
          <a:xfrm>
            <a:off x="35603825" y="19905964"/>
            <a:ext cx="6177600"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89442" y="25505739"/>
            <a:ext cx="13088796" cy="2071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89442" y="25506363"/>
            <a:ext cx="13088796" cy="207078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571845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8" orient="horz" pos="3689">
          <p15:clr>
            <a:srgbClr val="FBAE40"/>
          </p15:clr>
        </p15:guide>
        <p15:guide id="39" orient="horz" pos="18245">
          <p15:clr>
            <a:srgbClr val="FBAE40"/>
          </p15:clr>
        </p15:guide>
        <p15:guide id="41" pos="18062">
          <p15:clr>
            <a:srgbClr val="FBAE40"/>
          </p15:clr>
        </p15:guide>
        <p15:guide id="42" pos="17608">
          <p15:clr>
            <a:srgbClr val="FBAE40"/>
          </p15:clr>
        </p15:guide>
        <p15:guide id="43" pos="9353">
          <p15:clr>
            <a:srgbClr val="FBAE40"/>
          </p15:clr>
        </p15:guide>
        <p15:guide id="44" pos="889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0 Landscape Poster -  3 columns, 11 boxes v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9" name="Rectangle 8">
            <a:extLst>
              <a:ext uri="{FF2B5EF4-FFF2-40B4-BE49-F238E27FC236}">
                <a16:creationId xmlns:a16="http://schemas.microsoft.com/office/drawing/2014/main" id="{8B43F24F-F0FB-412D-9664-1168B0AE1CEF}"/>
              </a:ext>
              <a:ext uri="{C183D7F6-B498-43B3-948B-1728B52AA6E4}">
                <adec:decorative xmlns:adec="http://schemas.microsoft.com/office/drawing/2017/decorative" val="1"/>
              </a:ext>
            </a:extLst>
          </p:cNvPr>
          <p:cNvSpPr/>
          <p:nvPr/>
        </p:nvSpPr>
        <p:spPr>
          <a:xfrm>
            <a:off x="1020132" y="5859463"/>
            <a:ext cx="17416624"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53CD4AAC-44F7-4065-A428-4A870F2B2CEF}"/>
              </a:ext>
            </a:extLst>
          </p:cNvPr>
          <p:cNvSpPr>
            <a:spLocks noGrp="1"/>
          </p:cNvSpPr>
          <p:nvPr>
            <p:ph sz="quarter" idx="15" hasCustomPrompt="1"/>
          </p:nvPr>
        </p:nvSpPr>
        <p:spPr>
          <a:xfrm>
            <a:off x="1022351" y="5859786"/>
            <a:ext cx="17415944" cy="105048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0" name="Rectangle 9">
            <a:extLst>
              <a:ext uri="{FF2B5EF4-FFF2-40B4-BE49-F238E27FC236}">
                <a16:creationId xmlns:a16="http://schemas.microsoft.com/office/drawing/2014/main" id="{1AB46ECE-0E13-4515-9430-332A23640361}"/>
              </a:ext>
              <a:ext uri="{C183D7F6-B498-43B3-948B-1728B52AA6E4}">
                <adec:decorative xmlns:adec="http://schemas.microsoft.com/office/drawing/2017/decorative" val="1"/>
              </a:ext>
            </a:extLst>
          </p:cNvPr>
          <p:cNvSpPr/>
          <p:nvPr/>
        </p:nvSpPr>
        <p:spPr>
          <a:xfrm>
            <a:off x="1020132" y="17104383"/>
            <a:ext cx="9637974" cy="1049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3" name="Content Placeholder 32">
            <a:extLst>
              <a:ext uri="{FF2B5EF4-FFF2-40B4-BE49-F238E27FC236}">
                <a16:creationId xmlns:a16="http://schemas.microsoft.com/office/drawing/2014/main" id="{6BCD20C3-2203-4639-8AA5-6E0473699AB7}"/>
              </a:ext>
            </a:extLst>
          </p:cNvPr>
          <p:cNvSpPr>
            <a:spLocks noGrp="1"/>
          </p:cNvSpPr>
          <p:nvPr>
            <p:ph sz="quarter" idx="16" hasCustomPrompt="1"/>
          </p:nvPr>
        </p:nvSpPr>
        <p:spPr>
          <a:xfrm>
            <a:off x="1022351" y="17104383"/>
            <a:ext cx="9635332" cy="104904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1" name="Rectangle 10">
            <a:extLst>
              <a:ext uri="{FF2B5EF4-FFF2-40B4-BE49-F238E27FC236}">
                <a16:creationId xmlns:a16="http://schemas.microsoft.com/office/drawing/2014/main" id="{629FEC58-A4F3-4197-81B4-E6B1FBA9593F}"/>
              </a:ext>
              <a:ext uri="{C183D7F6-B498-43B3-948B-1728B52AA6E4}">
                <adec:decorative xmlns:adec="http://schemas.microsoft.com/office/drawing/2017/decorative" val="1"/>
              </a:ext>
            </a:extLst>
          </p:cNvPr>
          <p:cNvSpPr/>
          <p:nvPr/>
        </p:nvSpPr>
        <p:spPr>
          <a:xfrm>
            <a:off x="11391901" y="17105379"/>
            <a:ext cx="7044858" cy="1048940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5" name="Content Placeholder 34">
            <a:extLst>
              <a:ext uri="{FF2B5EF4-FFF2-40B4-BE49-F238E27FC236}">
                <a16:creationId xmlns:a16="http://schemas.microsoft.com/office/drawing/2014/main" id="{E2C72D6E-B012-4960-AFAF-2935F5655271}"/>
              </a:ext>
            </a:extLst>
          </p:cNvPr>
          <p:cNvSpPr>
            <a:spLocks noGrp="1"/>
          </p:cNvSpPr>
          <p:nvPr>
            <p:ph sz="quarter" idx="17" hasCustomPrompt="1"/>
          </p:nvPr>
        </p:nvSpPr>
        <p:spPr>
          <a:xfrm>
            <a:off x="11390572" y="17103637"/>
            <a:ext cx="7047259" cy="104911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7" name="Rectangle 16">
            <a:extLst>
              <a:ext uri="{FF2B5EF4-FFF2-40B4-BE49-F238E27FC236}">
                <a16:creationId xmlns:a16="http://schemas.microsoft.com/office/drawing/2014/main" id="{63912914-2747-4DDE-8D76-5195595D4A64}"/>
              </a:ext>
              <a:ext uri="{C183D7F6-B498-43B3-948B-1728B52AA6E4}">
                <adec:decorative xmlns:adec="http://schemas.microsoft.com/office/drawing/2017/decorative" val="1"/>
              </a:ext>
            </a:extLst>
          </p:cNvPr>
          <p:cNvSpPr/>
          <p:nvPr/>
        </p:nvSpPr>
        <p:spPr>
          <a:xfrm>
            <a:off x="19187327" y="5859464"/>
            <a:ext cx="12210169" cy="769674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6" name="Content Placeholder 35">
            <a:extLst>
              <a:ext uri="{FF2B5EF4-FFF2-40B4-BE49-F238E27FC236}">
                <a16:creationId xmlns:a16="http://schemas.microsoft.com/office/drawing/2014/main" id="{28C20B94-8FCB-4CD3-BA6F-B68019414536}"/>
              </a:ext>
            </a:extLst>
          </p:cNvPr>
          <p:cNvSpPr>
            <a:spLocks noGrp="1"/>
          </p:cNvSpPr>
          <p:nvPr>
            <p:ph sz="quarter" idx="18" hasCustomPrompt="1"/>
          </p:nvPr>
        </p:nvSpPr>
        <p:spPr>
          <a:xfrm>
            <a:off x="19186575" y="5858717"/>
            <a:ext cx="12210169" cy="769535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FF2B5EF4-FFF2-40B4-BE49-F238E27FC236}">
                <a16:creationId xmlns:a16="http://schemas.microsoft.com/office/drawing/2014/main" id="{1BEB6CBD-170B-4F09-B2F0-698A9A96E623}"/>
              </a:ext>
              <a:ext uri="{C183D7F6-B498-43B3-948B-1728B52AA6E4}">
                <adec:decorative xmlns:adec="http://schemas.microsoft.com/office/drawing/2017/decorative" val="1"/>
              </a:ext>
            </a:extLst>
          </p:cNvPr>
          <p:cNvSpPr/>
          <p:nvPr/>
        </p:nvSpPr>
        <p:spPr>
          <a:xfrm>
            <a:off x="19200978" y="14286397"/>
            <a:ext cx="12210169" cy="7692541"/>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 name="Content Placeholder 36">
            <a:extLst>
              <a:ext uri="{FF2B5EF4-FFF2-40B4-BE49-F238E27FC236}">
                <a16:creationId xmlns:a16="http://schemas.microsoft.com/office/drawing/2014/main" id="{DCBBFD08-AD1E-491B-9C58-47D0A41FB674}"/>
              </a:ext>
            </a:extLst>
          </p:cNvPr>
          <p:cNvSpPr>
            <a:spLocks noGrp="1"/>
          </p:cNvSpPr>
          <p:nvPr>
            <p:ph sz="quarter" idx="19" hasCustomPrompt="1"/>
          </p:nvPr>
        </p:nvSpPr>
        <p:spPr>
          <a:xfrm>
            <a:off x="19200974" y="14285127"/>
            <a:ext cx="12210169" cy="769381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1" name="Rectangle 20">
            <a:extLst>
              <a:ext uri="{FF2B5EF4-FFF2-40B4-BE49-F238E27FC236}">
                <a16:creationId xmlns:a16="http://schemas.microsoft.com/office/drawing/2014/main" id="{F798A082-AC4D-4A8D-9CF2-9430DF1C5F78}"/>
              </a:ext>
              <a:ext uri="{C183D7F6-B498-43B3-948B-1728B52AA6E4}">
                <adec:decorative xmlns:adec="http://schemas.microsoft.com/office/drawing/2017/decorative" val="1"/>
              </a:ext>
            </a:extLst>
          </p:cNvPr>
          <p:cNvSpPr/>
          <p:nvPr/>
        </p:nvSpPr>
        <p:spPr>
          <a:xfrm>
            <a:off x="19200979" y="22703580"/>
            <a:ext cx="12211605" cy="4891203"/>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8" name="Content Placeholder 37">
            <a:extLst>
              <a:ext uri="{FF2B5EF4-FFF2-40B4-BE49-F238E27FC236}">
                <a16:creationId xmlns:a16="http://schemas.microsoft.com/office/drawing/2014/main" id="{69CB0982-D2DA-488C-998B-7DC9B88A3E1C}"/>
              </a:ext>
            </a:extLst>
          </p:cNvPr>
          <p:cNvSpPr>
            <a:spLocks noGrp="1"/>
          </p:cNvSpPr>
          <p:nvPr>
            <p:ph sz="quarter" idx="20" hasCustomPrompt="1"/>
          </p:nvPr>
        </p:nvSpPr>
        <p:spPr>
          <a:xfrm>
            <a:off x="19200976" y="22703644"/>
            <a:ext cx="12210168" cy="489113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FF2B5EF4-FFF2-40B4-BE49-F238E27FC236}">
                <a16:creationId xmlns:a16="http://schemas.microsoft.com/office/drawing/2014/main" id="{DE17EA3D-1D97-402B-951A-07B65353F3E1}"/>
              </a:ext>
              <a:ext uri="{C183D7F6-B498-43B3-948B-1728B52AA6E4}">
                <adec:decorative xmlns:adec="http://schemas.microsoft.com/office/drawing/2017/decorative" val="1"/>
              </a:ext>
            </a:extLst>
          </p:cNvPr>
          <p:cNvSpPr/>
          <p:nvPr/>
        </p:nvSpPr>
        <p:spPr>
          <a:xfrm>
            <a:off x="32133600" y="5857200"/>
            <a:ext cx="9643126"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9" name="Content Placeholder 38">
            <a:extLst>
              <a:ext uri="{FF2B5EF4-FFF2-40B4-BE49-F238E27FC236}">
                <a16:creationId xmlns:a16="http://schemas.microsoft.com/office/drawing/2014/main" id="{E3800366-A01C-4055-B3B8-37E3F51B2C3D}"/>
              </a:ext>
            </a:extLst>
          </p:cNvPr>
          <p:cNvSpPr>
            <a:spLocks noGrp="1"/>
          </p:cNvSpPr>
          <p:nvPr>
            <p:ph sz="quarter" idx="21" hasCustomPrompt="1"/>
          </p:nvPr>
        </p:nvSpPr>
        <p:spPr>
          <a:xfrm>
            <a:off x="32131986" y="5858717"/>
            <a:ext cx="9646252" cy="105036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3" name="Rectangle 12">
            <a:extLst>
              <a:ext uri="{FF2B5EF4-FFF2-40B4-BE49-F238E27FC236}">
                <a16:creationId xmlns:a16="http://schemas.microsoft.com/office/drawing/2014/main" id="{8DBB5D15-5B0D-4AD2-A799-ADC5BDBD177B}"/>
              </a:ext>
              <a:ext uri="{C183D7F6-B498-43B3-948B-1728B52AA6E4}">
                <adec:decorative xmlns:adec="http://schemas.microsoft.com/office/drawing/2017/decorative" val="1"/>
              </a:ext>
            </a:extLst>
          </p:cNvPr>
          <p:cNvSpPr/>
          <p:nvPr/>
        </p:nvSpPr>
        <p:spPr>
          <a:xfrm>
            <a:off x="32147841" y="17095791"/>
            <a:ext cx="4458885" cy="488301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0" name="Content Placeholder 39">
            <a:extLst>
              <a:ext uri="{FF2B5EF4-FFF2-40B4-BE49-F238E27FC236}">
                <a16:creationId xmlns:a16="http://schemas.microsoft.com/office/drawing/2014/main" id="{E8B00910-BAB4-498C-B8BA-9E5D259C2CDD}"/>
              </a:ext>
            </a:extLst>
          </p:cNvPr>
          <p:cNvSpPr>
            <a:spLocks noGrp="1"/>
          </p:cNvSpPr>
          <p:nvPr>
            <p:ph sz="quarter" idx="22" hasCustomPrompt="1"/>
          </p:nvPr>
        </p:nvSpPr>
        <p:spPr>
          <a:xfrm>
            <a:off x="32147841" y="17095987"/>
            <a:ext cx="4460069" cy="48829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6" name="Rectangle 15">
            <a:extLst>
              <a:ext uri="{FF2B5EF4-FFF2-40B4-BE49-F238E27FC236}">
                <a16:creationId xmlns:a16="http://schemas.microsoft.com/office/drawing/2014/main" id="{BBD276F9-89C3-4113-840D-B73A8EC65C36}"/>
              </a:ext>
              <a:ext uri="{C183D7F6-B498-43B3-948B-1728B52AA6E4}">
                <adec:decorative xmlns:adec="http://schemas.microsoft.com/office/drawing/2017/decorative" val="1"/>
              </a:ext>
            </a:extLst>
          </p:cNvPr>
          <p:cNvSpPr/>
          <p:nvPr/>
        </p:nvSpPr>
        <p:spPr>
          <a:xfrm>
            <a:off x="37341983" y="17095792"/>
            <a:ext cx="4436255" cy="4883146"/>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 name="Content Placeholder 40">
            <a:extLst>
              <a:ext uri="{FF2B5EF4-FFF2-40B4-BE49-F238E27FC236}">
                <a16:creationId xmlns:a16="http://schemas.microsoft.com/office/drawing/2014/main" id="{13F1650C-45E1-44EE-9057-F0205C66164C}"/>
              </a:ext>
            </a:extLst>
          </p:cNvPr>
          <p:cNvSpPr>
            <a:spLocks noGrp="1"/>
          </p:cNvSpPr>
          <p:nvPr>
            <p:ph sz="quarter" idx="23" hasCustomPrompt="1"/>
          </p:nvPr>
        </p:nvSpPr>
        <p:spPr>
          <a:xfrm>
            <a:off x="37340799" y="17095987"/>
            <a:ext cx="4435927" cy="48830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4" name="Rectangle 13">
            <a:extLst>
              <a:ext uri="{FF2B5EF4-FFF2-40B4-BE49-F238E27FC236}">
                <a16:creationId xmlns:a16="http://schemas.microsoft.com/office/drawing/2014/main" id="{36E3DF8E-C4AE-42AE-9D54-DAF4F3D3BE66}"/>
              </a:ext>
              <a:ext uri="{C183D7F6-B498-43B3-948B-1728B52AA6E4}">
                <adec:decorative xmlns:adec="http://schemas.microsoft.com/office/drawing/2017/decorative" val="1"/>
              </a:ext>
            </a:extLst>
          </p:cNvPr>
          <p:cNvSpPr/>
          <p:nvPr/>
        </p:nvSpPr>
        <p:spPr>
          <a:xfrm>
            <a:off x="32147841" y="22713183"/>
            <a:ext cx="4458885"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2" name="Content Placeholder 41">
            <a:extLst>
              <a:ext uri="{FF2B5EF4-FFF2-40B4-BE49-F238E27FC236}">
                <a16:creationId xmlns:a16="http://schemas.microsoft.com/office/drawing/2014/main" id="{C8755E73-48C4-4B30-AEC3-CF06E9993461}"/>
              </a:ext>
            </a:extLst>
          </p:cNvPr>
          <p:cNvSpPr>
            <a:spLocks noGrp="1"/>
          </p:cNvSpPr>
          <p:nvPr>
            <p:ph sz="quarter" idx="24" hasCustomPrompt="1"/>
          </p:nvPr>
        </p:nvSpPr>
        <p:spPr>
          <a:xfrm>
            <a:off x="32147841" y="22713183"/>
            <a:ext cx="4460069"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Rectangle 14">
            <a:extLst>
              <a:ext uri="{FF2B5EF4-FFF2-40B4-BE49-F238E27FC236}">
                <a16:creationId xmlns:a16="http://schemas.microsoft.com/office/drawing/2014/main" id="{E6861DA8-30DB-48AE-B570-F97069B994CF}"/>
              </a:ext>
              <a:ext uri="{C183D7F6-B498-43B3-948B-1728B52AA6E4}">
                <adec:decorative xmlns:adec="http://schemas.microsoft.com/office/drawing/2017/decorative" val="1"/>
              </a:ext>
            </a:extLst>
          </p:cNvPr>
          <p:cNvSpPr/>
          <p:nvPr/>
        </p:nvSpPr>
        <p:spPr>
          <a:xfrm>
            <a:off x="37341983" y="22713183"/>
            <a:ext cx="4434743"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3" name="Content Placeholder 42">
            <a:extLst>
              <a:ext uri="{FF2B5EF4-FFF2-40B4-BE49-F238E27FC236}">
                <a16:creationId xmlns:a16="http://schemas.microsoft.com/office/drawing/2014/main" id="{63D3E744-6C56-4C5F-88D6-4844FC847B5A}"/>
              </a:ext>
            </a:extLst>
          </p:cNvPr>
          <p:cNvSpPr>
            <a:spLocks noGrp="1"/>
          </p:cNvSpPr>
          <p:nvPr>
            <p:ph sz="quarter" idx="25" hasCustomPrompt="1"/>
          </p:nvPr>
        </p:nvSpPr>
        <p:spPr>
          <a:xfrm>
            <a:off x="37340800" y="22713183"/>
            <a:ext cx="4435926"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62"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53160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4" pos="19785">
          <p15:clr>
            <a:srgbClr val="FBAE40"/>
          </p15:clr>
        </p15:guide>
        <p15:guide id="15" pos="12074">
          <p15:clr>
            <a:srgbClr val="FBAE40"/>
          </p15:clr>
        </p15:guide>
        <p15:guide id="21" pos="11621">
          <p15:clr>
            <a:srgbClr val="FBAE40"/>
          </p15:clr>
        </p15:guide>
        <p15:guide id="23" pos="202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CL Colour Palet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0962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6" pos="667">
          <p15:clr>
            <a:srgbClr val="FBAE40"/>
          </p15:clr>
        </p15:guide>
        <p15:guide id="7" pos="26294">
          <p15:clr>
            <a:srgbClr val="FBAE40"/>
          </p15:clr>
        </p15:guide>
        <p15:guide id="8" orient="horz" pos="17361">
          <p15:clr>
            <a:srgbClr val="FBAE40"/>
          </p15:clr>
        </p15:guide>
        <p15:guide id="9" orient="horz" pos="36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hyperlink" Target="https://www.ucl.ac.uk/cam/brand"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preview.tinyurl.com/UCL-GDPR"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ww.ucl.ac.uk/library/ucl-copyright-advice"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pic>
        <p:nvPicPr>
          <p:cNvPr id="2" name="UCL Banne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376164"/>
            <a:ext cx="42804000" cy="5154120"/>
          </a:xfrm>
          <a:prstGeom prst="rect">
            <a:avLst/>
          </a:prstGeom>
        </p:spPr>
      </p:pic>
      <p:sp>
        <p:nvSpPr>
          <p:cNvPr id="10" name="Rectangle 9"/>
          <p:cNvSpPr/>
          <p:nvPr/>
        </p:nvSpPr>
        <p:spPr>
          <a:xfrm>
            <a:off x="0" y="28289756"/>
            <a:ext cx="42800589" cy="20373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32" dirty="0"/>
          </a:p>
        </p:txBody>
      </p:sp>
      <p:sp>
        <p:nvSpPr>
          <p:cNvPr id="5" name="Rounded Rectangle 4">
            <a:extLst>
              <a:ext uri="{FF2B5EF4-FFF2-40B4-BE49-F238E27FC236}">
                <a16:creationId xmlns:a16="http://schemas.microsoft.com/office/drawing/2014/main" id="{002E5FBB-FB53-4B43-925B-1900D8F85C2B}"/>
              </a:ext>
              <a:ext uri="{C183D7F6-B498-43B3-948B-1728B52AA6E4}">
                <adec:decorative xmlns:adec="http://schemas.microsoft.com/office/drawing/2017/decorative" val="1"/>
              </a:ext>
            </a:extLst>
          </p:cNvPr>
          <p:cNvSpPr/>
          <p:nvPr/>
        </p:nvSpPr>
        <p:spPr>
          <a:xfrm>
            <a:off x="-10971985" y="1"/>
            <a:ext cx="10509339"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1" name="TextBox 10">
            <a:extLst>
              <a:ext uri="{FF2B5EF4-FFF2-40B4-BE49-F238E27FC236}">
                <a16:creationId xmlns:a16="http://schemas.microsoft.com/office/drawing/2014/main" id="{460486A7-30C0-4771-A900-AAFFEAE1146C}"/>
              </a:ext>
            </a:extLst>
          </p:cNvPr>
          <p:cNvSpPr txBox="1"/>
          <p:nvPr/>
        </p:nvSpPr>
        <p:spPr>
          <a:xfrm>
            <a:off x="-7205754" y="889794"/>
            <a:ext cx="3542958" cy="833172"/>
          </a:xfrm>
          <a:prstGeom prst="rect">
            <a:avLst/>
          </a:prstGeom>
          <a:noFill/>
        </p:spPr>
        <p:txBody>
          <a:bodyPr wrap="none" tIns="46797" bIns="46797" rtlCol="0">
            <a:spAutoFit/>
          </a:bodyPr>
          <a:lstStyle/>
          <a:p>
            <a:r>
              <a:rPr lang="en-GB" sz="4800" b="1" dirty="0">
                <a:latin typeface="+mj-lt"/>
              </a:rPr>
              <a:t>Guidelines:</a:t>
            </a:r>
          </a:p>
        </p:txBody>
      </p:sp>
      <p:sp>
        <p:nvSpPr>
          <p:cNvPr id="17" name="TextBox 16">
            <a:extLst>
              <a:ext uri="{FF2B5EF4-FFF2-40B4-BE49-F238E27FC236}">
                <a16:creationId xmlns:a16="http://schemas.microsoft.com/office/drawing/2014/main" id="{AAE1DDCA-E69D-4D9F-9870-6F8562E2A2F8}"/>
              </a:ext>
              <a:ext uri="{C183D7F6-B498-43B3-948B-1728B52AA6E4}">
                <adec:decorative xmlns:adec="http://schemas.microsoft.com/office/drawing/2017/decorative" val="0"/>
              </a:ext>
            </a:extLst>
          </p:cNvPr>
          <p:cNvSpPr txBox="1"/>
          <p:nvPr/>
        </p:nvSpPr>
        <p:spPr>
          <a:xfrm>
            <a:off x="-10666950" y="2215296"/>
            <a:ext cx="9899266" cy="2214669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UCL Banner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colour and format should not be altered.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Do not place other images or logos on the banner.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Title text should be left aligned unless a poster number is added.</a:t>
            </a:r>
          </a:p>
          <a:p>
            <a:pPr marL="0" indent="0">
              <a:buFontTx/>
              <a:buNone/>
            </a:pPr>
            <a:endParaRPr lang="en-GB" sz="3200" b="0"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Layout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This should be visually appealing and easy to follow. Be consistent.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Choose one slide layout and delete the rest of the slides. Adjust background boxes via the slide master view if required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Ensure that the guides are turned on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Keep within the margin guidelines at the edge to help visibility and avoid the risk of content being trimmed off. </a:t>
            </a:r>
          </a:p>
          <a:p>
            <a:pPr marL="0" indent="0">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Text</a:t>
            </a:r>
            <a:r>
              <a:rPr lang="en-GB" sz="3600" b="1" kern="1200" dirty="0">
                <a:solidFill>
                  <a:schemeClr val="tx1"/>
                </a:solidFill>
                <a:latin typeface="+mn-lt"/>
                <a:ea typeface="+mn-ea"/>
                <a:cs typeface="+mn-cs"/>
              </a:rPr>
              <a:t>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Aim for 300-600 words that are concise and straight to the point.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font sizes below 24pt except for captions.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a maximum of two fonts (the official UCL fonts are Arial or Helvetica, with Garamond as an additional font in the body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bullet points to break up large areas of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Left justified text is easier to read than fully justified.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Set headings in bold.</a:t>
            </a:r>
          </a:p>
          <a:p>
            <a:pPr>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Graphs, Images and Tables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They must be embedded in your file by inserting the file rather than copying and pasting.</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Make sure they are sufficient size and clearly visible with at least 150dpi.</a:t>
            </a:r>
            <a:endParaRPr lang="en-GB" sz="3200" b="1" dirty="0"/>
          </a:p>
          <a:p>
            <a:pPr>
              <a:buFontTx/>
              <a:buNone/>
            </a:pPr>
            <a:endParaRPr lang="en-GB" sz="3200" b="1" dirty="0"/>
          </a:p>
        </p:txBody>
      </p:sp>
      <p:sp>
        <p:nvSpPr>
          <p:cNvPr id="6" name="Rounded Rectangle 5">
            <a:extLst>
              <a:ext uri="{FF2B5EF4-FFF2-40B4-BE49-F238E27FC236}">
                <a16:creationId xmlns:a16="http://schemas.microsoft.com/office/drawing/2014/main" id="{D18A53B1-78B8-DD4E-A5C3-83962FFEC935}"/>
              </a:ext>
            </a:extLst>
          </p:cNvPr>
          <p:cNvSpPr/>
          <p:nvPr/>
        </p:nvSpPr>
        <p:spPr>
          <a:xfrm>
            <a:off x="43291003" y="1"/>
            <a:ext cx="10511220"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2" dirty="0"/>
          </a:p>
        </p:txBody>
      </p:sp>
      <p:sp>
        <p:nvSpPr>
          <p:cNvPr id="14" name="TextBox 13">
            <a:extLst>
              <a:ext uri="{FF2B5EF4-FFF2-40B4-BE49-F238E27FC236}">
                <a16:creationId xmlns:a16="http://schemas.microsoft.com/office/drawing/2014/main" id="{4AE4917F-44AA-42A0-A37D-362EC920AC03}"/>
              </a:ext>
            </a:extLst>
          </p:cNvPr>
          <p:cNvSpPr txBox="1"/>
          <p:nvPr/>
        </p:nvSpPr>
        <p:spPr>
          <a:xfrm>
            <a:off x="46243108" y="909884"/>
            <a:ext cx="5016117" cy="833172"/>
          </a:xfrm>
          <a:prstGeom prst="rect">
            <a:avLst/>
          </a:prstGeom>
          <a:noFill/>
        </p:spPr>
        <p:txBody>
          <a:bodyPr wrap="none" tIns="46797" bIns="46797" rtlCol="0">
            <a:spAutoFit/>
          </a:bodyPr>
          <a:lstStyle/>
          <a:p>
            <a:r>
              <a:rPr lang="en-GB" sz="4800" b="1" dirty="0">
                <a:latin typeface="+mj-lt"/>
              </a:rPr>
              <a:t>Guidelines </a:t>
            </a:r>
            <a:r>
              <a:rPr lang="en-GB" sz="4800" b="1" dirty="0" err="1">
                <a:latin typeface="+mj-lt"/>
              </a:rPr>
              <a:t>cont</a:t>
            </a:r>
            <a:r>
              <a:rPr lang="en-GB" sz="4800" b="1" dirty="0">
                <a:latin typeface="+mj-lt"/>
              </a:rPr>
              <a:t>:</a:t>
            </a:r>
          </a:p>
        </p:txBody>
      </p:sp>
      <p:sp>
        <p:nvSpPr>
          <p:cNvPr id="20" name="TextBox 19">
            <a:extLst>
              <a:ext uri="{FF2B5EF4-FFF2-40B4-BE49-F238E27FC236}">
                <a16:creationId xmlns:a16="http://schemas.microsoft.com/office/drawing/2014/main" id="{ACE2FCA7-9DB8-47EA-9CD5-CED948F4A325}"/>
              </a:ext>
            </a:extLst>
          </p:cNvPr>
          <p:cNvSpPr txBox="1"/>
          <p:nvPr/>
        </p:nvSpPr>
        <p:spPr>
          <a:xfrm>
            <a:off x="43596980" y="2200896"/>
            <a:ext cx="9899266" cy="7558090"/>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Colour</a:t>
            </a:r>
            <a:endParaRPr lang="en-GB" sz="4000" b="1" kern="1200" dirty="0">
              <a:solidFill>
                <a:schemeClr val="tx1"/>
              </a:solidFill>
              <a:latin typeface="+mj-lt"/>
              <a:ea typeface="+mn-ea"/>
              <a:cs typeface="+mn-cs"/>
            </a:endParaRP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Select background colours that contrast well 	   with the font to allow easier reading of your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backgrounds with bright or dark colours and full of texture as this will distract readers.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Try not to use too many colours – 1-2 work well, plus images and charts.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template is formatted with appropriate UCL colours for the banner colour chosen.</a:t>
            </a:r>
          </a:p>
          <a:p>
            <a:pPr marL="457154" marR="0" lvl="0" indent="-457154" algn="l" defTabSz="457154" rtl="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GB" sz="3600" kern="1200" dirty="0">
                <a:solidFill>
                  <a:schemeClr val="tx1"/>
                </a:solidFill>
                <a:latin typeface="+mn-lt"/>
                <a:ea typeface="+mn-ea"/>
                <a:cs typeface="+mn-cs"/>
              </a:rPr>
              <a:t>Don’t use multiple layers of transparency in PowerPoint.</a:t>
            </a:r>
          </a:p>
          <a:p>
            <a:pPr marL="457154" indent="-457154" algn="l" defTabSz="457154" rtl="0" eaLnBrk="1" latinLnBrk="0" hangingPunct="1">
              <a:lnSpc>
                <a:spcPct val="100000"/>
              </a:lnSpc>
              <a:spcAft>
                <a:spcPts val="1800"/>
              </a:spcAft>
              <a:buFont typeface="Arial" panose="020B0604020202020204" pitchFamily="34" charset="0"/>
              <a:buChar char="•"/>
            </a:pPr>
            <a:endParaRPr lang="en-GB" sz="3600" b="1" kern="1200" dirty="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2F795265-BF50-4AB3-8E7B-E09E72992F10}"/>
              </a:ext>
            </a:extLst>
          </p:cNvPr>
          <p:cNvSpPr txBox="1"/>
          <p:nvPr/>
        </p:nvSpPr>
        <p:spPr>
          <a:xfrm>
            <a:off x="43711148" y="9641521"/>
            <a:ext cx="9899266" cy="980485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Copyright  and GDPR</a:t>
            </a:r>
          </a:p>
          <a:p>
            <a:r>
              <a:rPr lang="en-GB" sz="2800" dirty="0"/>
              <a:t>(copy and paste the link  to your browser )</a:t>
            </a:r>
          </a:p>
          <a:p>
            <a:endParaRPr lang="en-GB" sz="3200" dirty="0">
              <a:hlinkClick r:id="" action="ppaction://noaction"/>
            </a:endParaRPr>
          </a:p>
          <a:p>
            <a:r>
              <a:rPr lang="en-GB" sz="3200" dirty="0">
                <a:hlinkClick r:id="" action="ppaction://noaction"/>
              </a:rPr>
              <a:t>https</a:t>
            </a:r>
            <a:r>
              <a:rPr lang="en-GB" sz="3200" dirty="0">
                <a:hlinkClick r:id="rId14"/>
              </a:rPr>
              <a:t>://www.ucl.ac.uk/library/ucl-copyright-advice</a:t>
            </a:r>
            <a:endParaRPr lang="en-GB" sz="3200" dirty="0"/>
          </a:p>
          <a:p>
            <a:endParaRPr lang="en-GB" sz="3200" dirty="0"/>
          </a:p>
          <a:p>
            <a:r>
              <a:rPr lang="en-GB" sz="3200" dirty="0">
                <a:hlinkClick r:id="rId15"/>
              </a:rPr>
              <a:t>https://preview.tinyurl.com/UCL-GDPR</a:t>
            </a:r>
            <a:endParaRPr lang="en-GB" sz="3200" dirty="0"/>
          </a:p>
          <a:p>
            <a:endParaRPr lang="en-GB" sz="3200" dirty="0"/>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Only use copyright free images or those available under the creative commons license unless you have bought the relevant license. You are free to use graphics you have generated but check with colleagues if they have produced them.</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Images downloaded from online are subject to copyright unless this has been waived.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Flickr.com is a useful resource to check the copyright status of images from the web.</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Follow GDPR (General Data Protection Regulation) for images of people.</a:t>
            </a:r>
          </a:p>
        </p:txBody>
      </p:sp>
      <p:sp>
        <p:nvSpPr>
          <p:cNvPr id="4" name="TextBox 3">
            <a:extLst>
              <a:ext uri="{FF2B5EF4-FFF2-40B4-BE49-F238E27FC236}">
                <a16:creationId xmlns:a16="http://schemas.microsoft.com/office/drawing/2014/main" id="{906DADF1-5D4E-4677-9DFB-8C1D0DFD74DB}"/>
              </a:ext>
            </a:extLst>
          </p:cNvPr>
          <p:cNvSpPr txBox="1"/>
          <p:nvPr/>
        </p:nvSpPr>
        <p:spPr>
          <a:xfrm>
            <a:off x="43596980" y="20038106"/>
            <a:ext cx="9899266" cy="3077766"/>
          </a:xfrm>
          <a:prstGeom prst="rect">
            <a:avLst/>
          </a:prstGeom>
          <a:noFill/>
        </p:spPr>
        <p:txBody>
          <a:bodyPr wrap="square" rtlCol="0">
            <a:spAutoFit/>
          </a:bodyPr>
          <a:lstStyle/>
          <a:p>
            <a:pPr algn="l" defTabSz="457154" rtl="0" eaLnBrk="1" latinLnBrk="0" hangingPunct="1">
              <a:lnSpc>
                <a:spcPct val="100000"/>
              </a:lnSpc>
              <a:spcAft>
                <a:spcPts val="1800"/>
              </a:spcAft>
              <a:buFont typeface="Arial" panose="020B0604020202020204" pitchFamily="34" charset="0"/>
            </a:pPr>
            <a:r>
              <a:rPr lang="en-GB" sz="3600" b="1" kern="1200" dirty="0">
                <a:solidFill>
                  <a:schemeClr val="tx1"/>
                </a:solidFill>
                <a:latin typeface="+mj-lt"/>
                <a:ea typeface="+mn-ea"/>
                <a:cs typeface="+mn-cs"/>
              </a:rPr>
              <a:t>UCL Banner vs UCL Logo</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banner where UCL is the major partner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UCL logo only where work is an equal collaboration and place all logos at the bottom - </a:t>
            </a:r>
            <a:r>
              <a:rPr lang="en-GB" sz="3200" dirty="0">
                <a:hlinkClick r:id="rId16"/>
              </a:rPr>
              <a:t>https://www.ucl.ac.uk/cam/brand</a:t>
            </a:r>
            <a:endParaRPr lang="en-GB" sz="3200" kern="1200" dirty="0">
              <a:solidFill>
                <a:schemeClr val="tx1"/>
              </a:solidFill>
              <a:latin typeface="+mn-lt"/>
              <a:ea typeface="+mn-ea"/>
              <a:cs typeface="+mn-cs"/>
            </a:endParaRPr>
          </a:p>
        </p:txBody>
      </p:sp>
    </p:spTree>
    <p:extLst>
      <p:ext uri="{BB962C8B-B14F-4D97-AF65-F5344CB8AC3E}">
        <p14:creationId xmlns:p14="http://schemas.microsoft.com/office/powerpoint/2010/main" val="549790678"/>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defTabSz="3209320" rtl="0" eaLnBrk="1" latinLnBrk="0" hangingPunct="1">
        <a:lnSpc>
          <a:spcPct val="90000"/>
        </a:lnSpc>
        <a:spcBef>
          <a:spcPct val="0"/>
        </a:spcBef>
        <a:buNone/>
        <a:defRPr sz="15442" kern="1200">
          <a:solidFill>
            <a:schemeClr val="tx1"/>
          </a:solidFill>
          <a:latin typeface="+mj-lt"/>
          <a:ea typeface="+mj-ea"/>
          <a:cs typeface="+mj-cs"/>
        </a:defRPr>
      </a:lvl1pPr>
    </p:titleStyle>
    <p:bodyStyle>
      <a:lvl1pPr marL="802331" indent="-802331" algn="l" defTabSz="3209320" rtl="0" eaLnBrk="1" latinLnBrk="0" hangingPunct="1">
        <a:lnSpc>
          <a:spcPct val="90000"/>
        </a:lnSpc>
        <a:spcBef>
          <a:spcPts val="3510"/>
        </a:spcBef>
        <a:buFont typeface="Arial" panose="020B0604020202020204" pitchFamily="34" charset="0"/>
        <a:buChar char="•"/>
        <a:defRPr sz="9827" kern="1200">
          <a:solidFill>
            <a:schemeClr val="tx1"/>
          </a:solidFill>
          <a:latin typeface="+mn-lt"/>
          <a:ea typeface="+mn-ea"/>
          <a:cs typeface="+mn-cs"/>
        </a:defRPr>
      </a:lvl1pPr>
      <a:lvl2pPr marL="2406990" indent="-802331" algn="l" defTabSz="3209320" rtl="0" eaLnBrk="1" latinLnBrk="0" hangingPunct="1">
        <a:lnSpc>
          <a:spcPct val="90000"/>
        </a:lnSpc>
        <a:spcBef>
          <a:spcPts val="1755"/>
        </a:spcBef>
        <a:buFont typeface="Arial" panose="020B0604020202020204" pitchFamily="34" charset="0"/>
        <a:buChar char="•"/>
        <a:defRPr sz="8423" kern="1200">
          <a:solidFill>
            <a:schemeClr val="tx1"/>
          </a:solidFill>
          <a:latin typeface="+mn-lt"/>
          <a:ea typeface="+mn-ea"/>
          <a:cs typeface="+mn-cs"/>
        </a:defRPr>
      </a:lvl2pPr>
      <a:lvl3pPr marL="4011651" indent="-802331" algn="l" defTabSz="3209320" rtl="0" eaLnBrk="1" latinLnBrk="0" hangingPunct="1">
        <a:lnSpc>
          <a:spcPct val="90000"/>
        </a:lnSpc>
        <a:spcBef>
          <a:spcPts val="1755"/>
        </a:spcBef>
        <a:buFont typeface="Arial" panose="020B0604020202020204" pitchFamily="34" charset="0"/>
        <a:buChar char="•"/>
        <a:defRPr sz="7019" kern="1200">
          <a:solidFill>
            <a:schemeClr val="tx1"/>
          </a:solidFill>
          <a:latin typeface="+mn-lt"/>
          <a:ea typeface="+mn-ea"/>
          <a:cs typeface="+mn-cs"/>
        </a:defRPr>
      </a:lvl3pPr>
      <a:lvl4pPr marL="561631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4pPr>
      <a:lvl5pPr marL="722097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5pPr>
      <a:lvl6pPr marL="882563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6pPr>
      <a:lvl7pPr marL="1043029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7pPr>
      <a:lvl8pPr marL="1203495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8pPr>
      <a:lvl9pPr marL="1363961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9pPr>
    </p:bodyStyle>
    <p:otherStyle>
      <a:defPPr>
        <a:defRPr lang="en-US"/>
      </a:defPPr>
      <a:lvl1pPr marL="0" algn="l" defTabSz="3209320" rtl="0" eaLnBrk="1" latinLnBrk="0" hangingPunct="1">
        <a:defRPr sz="6317" kern="1200">
          <a:solidFill>
            <a:schemeClr val="tx1"/>
          </a:solidFill>
          <a:latin typeface="+mn-lt"/>
          <a:ea typeface="+mn-ea"/>
          <a:cs typeface="+mn-cs"/>
        </a:defRPr>
      </a:lvl1pPr>
      <a:lvl2pPr marL="1604660" algn="l" defTabSz="3209320" rtl="0" eaLnBrk="1" latinLnBrk="0" hangingPunct="1">
        <a:defRPr sz="6317" kern="1200">
          <a:solidFill>
            <a:schemeClr val="tx1"/>
          </a:solidFill>
          <a:latin typeface="+mn-lt"/>
          <a:ea typeface="+mn-ea"/>
          <a:cs typeface="+mn-cs"/>
        </a:defRPr>
      </a:lvl2pPr>
      <a:lvl3pPr marL="3209320" algn="l" defTabSz="3209320" rtl="0" eaLnBrk="1" latinLnBrk="0" hangingPunct="1">
        <a:defRPr sz="6317" kern="1200">
          <a:solidFill>
            <a:schemeClr val="tx1"/>
          </a:solidFill>
          <a:latin typeface="+mn-lt"/>
          <a:ea typeface="+mn-ea"/>
          <a:cs typeface="+mn-cs"/>
        </a:defRPr>
      </a:lvl3pPr>
      <a:lvl4pPr marL="4813981" algn="l" defTabSz="3209320" rtl="0" eaLnBrk="1" latinLnBrk="0" hangingPunct="1">
        <a:defRPr sz="6317" kern="1200">
          <a:solidFill>
            <a:schemeClr val="tx1"/>
          </a:solidFill>
          <a:latin typeface="+mn-lt"/>
          <a:ea typeface="+mn-ea"/>
          <a:cs typeface="+mn-cs"/>
        </a:defRPr>
      </a:lvl4pPr>
      <a:lvl5pPr marL="6418641" algn="l" defTabSz="3209320" rtl="0" eaLnBrk="1" latinLnBrk="0" hangingPunct="1">
        <a:defRPr sz="6317" kern="1200">
          <a:solidFill>
            <a:schemeClr val="tx1"/>
          </a:solidFill>
          <a:latin typeface="+mn-lt"/>
          <a:ea typeface="+mn-ea"/>
          <a:cs typeface="+mn-cs"/>
        </a:defRPr>
      </a:lvl5pPr>
      <a:lvl6pPr marL="8023302" algn="l" defTabSz="3209320" rtl="0" eaLnBrk="1" latinLnBrk="0" hangingPunct="1">
        <a:defRPr sz="6317" kern="1200">
          <a:solidFill>
            <a:schemeClr val="tx1"/>
          </a:solidFill>
          <a:latin typeface="+mn-lt"/>
          <a:ea typeface="+mn-ea"/>
          <a:cs typeface="+mn-cs"/>
        </a:defRPr>
      </a:lvl6pPr>
      <a:lvl7pPr marL="9627962" algn="l" defTabSz="3209320" rtl="0" eaLnBrk="1" latinLnBrk="0" hangingPunct="1">
        <a:defRPr sz="6317" kern="1200">
          <a:solidFill>
            <a:schemeClr val="tx1"/>
          </a:solidFill>
          <a:latin typeface="+mn-lt"/>
          <a:ea typeface="+mn-ea"/>
          <a:cs typeface="+mn-cs"/>
        </a:defRPr>
      </a:lvl7pPr>
      <a:lvl8pPr marL="11232622" algn="l" defTabSz="3209320" rtl="0" eaLnBrk="1" latinLnBrk="0" hangingPunct="1">
        <a:defRPr sz="6317" kern="1200">
          <a:solidFill>
            <a:schemeClr val="tx1"/>
          </a:solidFill>
          <a:latin typeface="+mn-lt"/>
          <a:ea typeface="+mn-ea"/>
          <a:cs typeface="+mn-cs"/>
        </a:defRPr>
      </a:lvl8pPr>
      <a:lvl9pPr marL="12837282" algn="l" defTabSz="3209320" rtl="0" eaLnBrk="1" latinLnBrk="0" hangingPunct="1">
        <a:defRPr sz="6317" kern="1200">
          <a:solidFill>
            <a:schemeClr val="tx1"/>
          </a:solidFill>
          <a:latin typeface="+mn-lt"/>
          <a:ea typeface="+mn-ea"/>
          <a:cs typeface="+mn-cs"/>
        </a:defRPr>
      </a:lvl9pPr>
    </p:otherStyle>
  </p:txStyles>
  <p:extLst>
    <p:ext uri="{27BBF7A9-308A-43DC-89C8-2F10F3537804}">
      <p15:sldGuideLst xmlns:p15="http://schemas.microsoft.com/office/powerpoint/2012/main">
        <p15:guide id="56" pos="644">
          <p15:clr>
            <a:srgbClr val="F26B43"/>
          </p15:clr>
        </p15:guide>
        <p15:guide id="66" pos="26317">
          <p15:clr>
            <a:srgbClr val="F26B43"/>
          </p15:clr>
        </p15:guide>
        <p15:guide id="67" orient="horz" pos="3684">
          <p15:clr>
            <a:srgbClr val="F26B43"/>
          </p15:clr>
        </p15:guide>
        <p15:guide id="82" orient="horz" pos="1738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diagramData" Target="../diagrams/data2.xml"/><Relationship Id="rId18" Type="http://schemas.openxmlformats.org/officeDocument/2006/relationships/image" Target="../media/image6.png"/><Relationship Id="rId3" Type="http://schemas.openxmlformats.org/officeDocument/2006/relationships/hyperlink" Target="https://github.com/Luo2090411/Artificial-Intelligence-for-Sustainable-Development-CW2" TargetMode="External"/><Relationship Id="rId7" Type="http://schemas.openxmlformats.org/officeDocument/2006/relationships/diagramData" Target="../diagrams/data1.xml"/><Relationship Id="rId12" Type="http://schemas.openxmlformats.org/officeDocument/2006/relationships/chart" Target="../charts/chart1.xml"/><Relationship Id="rId17" Type="http://schemas.microsoft.com/office/2007/relationships/diagramDrawing" Target="../diagrams/drawing2.xml"/><Relationship Id="rId2" Type="http://schemas.openxmlformats.org/officeDocument/2006/relationships/image" Target="../media/image2.png"/><Relationship Id="rId16" Type="http://schemas.openxmlformats.org/officeDocument/2006/relationships/diagramColors" Target="../diagrams/colors2.xml"/><Relationship Id="rId1" Type="http://schemas.openxmlformats.org/officeDocument/2006/relationships/slideLayout" Target="../slideLayouts/slideLayout3.xml"/><Relationship Id="rId6" Type="http://schemas.openxmlformats.org/officeDocument/2006/relationships/image" Target="../media/image5.png"/><Relationship Id="rId11" Type="http://schemas.microsoft.com/office/2007/relationships/diagramDrawing" Target="../diagrams/drawing1.xml"/><Relationship Id="rId5" Type="http://schemas.openxmlformats.org/officeDocument/2006/relationships/image" Target="../media/image4.png"/><Relationship Id="rId15" Type="http://schemas.openxmlformats.org/officeDocument/2006/relationships/diagramQuickStyle" Target="../diagrams/quickStyle2.xml"/><Relationship Id="rId10" Type="http://schemas.openxmlformats.org/officeDocument/2006/relationships/diagramColors" Target="../diagrams/colors1.xml"/><Relationship Id="rId4" Type="http://schemas.openxmlformats.org/officeDocument/2006/relationships/image" Target="../media/image3.png"/><Relationship Id="rId9" Type="http://schemas.openxmlformats.org/officeDocument/2006/relationships/diagramQuickStyle" Target="../diagrams/quickStyle1.xml"/><Relationship Id="rId1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40000"/>
                <a:lumOff val="60000"/>
              </a:schemeClr>
            </a:gs>
            <a:gs pos="0">
              <a:schemeClr val="accent1">
                <a:lumMod val="45000"/>
                <a:lumOff val="55000"/>
              </a:schemeClr>
            </a:gs>
            <a:gs pos="0">
              <a:srgbClr val="E6F5F6"/>
            </a:gs>
          </a:gsLst>
          <a:lin ang="5400000" scaled="1"/>
        </a:gradFill>
        <a:effectLst/>
      </p:bgPr>
    </p:bg>
    <p:spTree>
      <p:nvGrpSpPr>
        <p:cNvPr id="1" name=""/>
        <p:cNvGrpSpPr/>
        <p:nvPr/>
      </p:nvGrpSpPr>
      <p:grpSpPr>
        <a:xfrm>
          <a:off x="0" y="0"/>
          <a:ext cx="0" cy="0"/>
          <a:chOff x="0" y="0"/>
          <a:chExt cx="0" cy="0"/>
        </a:xfrm>
      </p:grpSpPr>
      <p:sp>
        <p:nvSpPr>
          <p:cNvPr id="24" name="矩形: 圆角 23">
            <a:extLst>
              <a:ext uri="{FF2B5EF4-FFF2-40B4-BE49-F238E27FC236}">
                <a16:creationId xmlns:a16="http://schemas.microsoft.com/office/drawing/2014/main" id="{10FD5447-485F-C7C1-63D7-7D7559001E0E}"/>
              </a:ext>
            </a:extLst>
          </p:cNvPr>
          <p:cNvSpPr/>
          <p:nvPr/>
        </p:nvSpPr>
        <p:spPr>
          <a:xfrm>
            <a:off x="14975900" y="5857198"/>
            <a:ext cx="12709019" cy="56630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图示&#10;&#10;AI 生成的内容可能不正确。">
            <a:extLst>
              <a:ext uri="{FF2B5EF4-FFF2-40B4-BE49-F238E27FC236}">
                <a16:creationId xmlns:a16="http://schemas.microsoft.com/office/drawing/2014/main" id="{46794006-3DF8-6F7D-DFFA-7357D722B694}"/>
              </a:ext>
            </a:extLst>
          </p:cNvPr>
          <p:cNvPicPr>
            <a:picLocks noChangeAspect="1"/>
          </p:cNvPicPr>
          <p:nvPr/>
        </p:nvPicPr>
        <p:blipFill>
          <a:blip r:embed="rId2"/>
          <a:stretch>
            <a:fillRect/>
          </a:stretch>
        </p:blipFill>
        <p:spPr>
          <a:xfrm>
            <a:off x="35911312" y="23165466"/>
            <a:ext cx="5451835" cy="4081843"/>
          </a:xfrm>
          <a:prstGeom prst="rect">
            <a:avLst/>
          </a:prstGeom>
          <a:ln>
            <a:noFill/>
          </a:ln>
          <a:effectLst>
            <a:outerShdw blurRad="292100" dist="139700" dir="2700000" algn="tl" rotWithShape="0">
              <a:srgbClr val="333333">
                <a:alpha val="65000"/>
              </a:srgbClr>
            </a:outerShdw>
          </a:effectLst>
        </p:spPr>
      </p:pic>
      <p:sp>
        <p:nvSpPr>
          <p:cNvPr id="29" name="Title 28" descr="Poster title"/>
          <p:cNvSpPr>
            <a:spLocks noGrp="1"/>
          </p:cNvSpPr>
          <p:nvPr>
            <p:ph type="title"/>
          </p:nvPr>
        </p:nvSpPr>
        <p:spPr/>
        <p:txBody>
          <a:bodyPr/>
          <a:lstStyle/>
          <a:p>
            <a:r>
              <a:rPr lang="en-US" dirty="0"/>
              <a:t> </a:t>
            </a:r>
            <a:r>
              <a:rPr lang="en-US" dirty="0" err="1"/>
              <a:t>SafeText</a:t>
            </a:r>
            <a:r>
              <a:rPr lang="en-US" dirty="0"/>
              <a:t> checker based on HEARTS-Text-Stereotype-Detection</a:t>
            </a:r>
            <a:endParaRPr lang="en-GB" dirty="0"/>
          </a:p>
        </p:txBody>
      </p:sp>
      <p:sp>
        <p:nvSpPr>
          <p:cNvPr id="30" name="Text Placeholder 29" descr="Authors"/>
          <p:cNvSpPr>
            <a:spLocks noGrp="1"/>
          </p:cNvSpPr>
          <p:nvPr>
            <p:ph type="body" sz="quarter" idx="10"/>
          </p:nvPr>
        </p:nvSpPr>
        <p:spPr/>
        <p:txBody>
          <a:bodyPr/>
          <a:lstStyle/>
          <a:p>
            <a:r>
              <a:rPr lang="en-US" altLang="zh-CN" dirty="0"/>
              <a:t>Zhiyuan Luo                                           20114597 </a:t>
            </a:r>
            <a:endParaRPr lang="en-GB" dirty="0"/>
          </a:p>
        </p:txBody>
      </p:sp>
      <p:sp>
        <p:nvSpPr>
          <p:cNvPr id="31" name="Text Placeholder 30" descr="Department or institution"/>
          <p:cNvSpPr>
            <a:spLocks noGrp="1"/>
          </p:cNvSpPr>
          <p:nvPr>
            <p:ph type="body" sz="quarter" idx="11"/>
          </p:nvPr>
        </p:nvSpPr>
        <p:spPr>
          <a:xfrm>
            <a:off x="1058785" y="4074786"/>
            <a:ext cx="35504166" cy="1316771"/>
          </a:xfrm>
        </p:spPr>
        <p:txBody>
          <a:bodyPr/>
          <a:lstStyle/>
          <a:p>
            <a:r>
              <a:rPr lang="en-GB" dirty="0"/>
              <a:t>                                                                                                                                                     </a:t>
            </a:r>
            <a:r>
              <a:rPr lang="en-US" altLang="zh-CN" dirty="0">
                <a:hlinkClick r:id="rId3"/>
              </a:rPr>
              <a:t>Luo2090411/Artificial-Intelligence-for-Sustainable-Development-CW2</a:t>
            </a:r>
            <a:endParaRPr lang="en-GB" altLang="zh-CN"/>
          </a:p>
          <a:p>
            <a:endParaRPr lang="en-GB" dirty="0"/>
          </a:p>
        </p:txBody>
      </p:sp>
      <p:sp>
        <p:nvSpPr>
          <p:cNvPr id="34" name="Text Placeholder 33" descr="Exclusion area"/>
          <p:cNvSpPr>
            <a:spLocks noGrp="1"/>
          </p:cNvSpPr>
          <p:nvPr>
            <p:ph type="body" sz="quarter" idx="14"/>
          </p:nvPr>
        </p:nvSpPr>
        <p:spPr/>
        <p:txBody>
          <a:bodyPr/>
          <a:lstStyle/>
          <a:p>
            <a:endParaRPr lang="en-GB" dirty="0"/>
          </a:p>
        </p:txBody>
      </p:sp>
      <p:sp>
        <p:nvSpPr>
          <p:cNvPr id="36" name="Content Placeholder 35" descr="Column 1, box 1"/>
          <p:cNvSpPr>
            <a:spLocks noGrp="1"/>
          </p:cNvSpPr>
          <p:nvPr>
            <p:ph sz="quarter" idx="18"/>
          </p:nvPr>
        </p:nvSpPr>
        <p:spPr>
          <a:xfrm>
            <a:off x="1322328" y="5035516"/>
            <a:ext cx="12012713" cy="757131"/>
          </a:xfrm>
        </p:spPr>
        <p:txBody>
          <a:bodyPr/>
          <a:lstStyle/>
          <a:p>
            <a:r>
              <a:rPr lang="en-GB" sz="3600" b="1" dirty="0"/>
              <a:t>Original Paper</a:t>
            </a:r>
            <a:r>
              <a:rPr lang="zh-CN" altLang="en-US" sz="3600" b="1" dirty="0"/>
              <a:t>：</a:t>
            </a:r>
            <a:r>
              <a:rPr lang="en-US" altLang="zh-CN" sz="3600" b="1" dirty="0"/>
              <a:t>Text-Stereotype-Detection</a:t>
            </a:r>
            <a:endParaRPr lang="en-GB" sz="3600" b="1" dirty="0"/>
          </a:p>
        </p:txBody>
      </p:sp>
      <p:sp>
        <p:nvSpPr>
          <p:cNvPr id="2" name="Content Placeholder 1" descr="Column 2, box 1"/>
          <p:cNvSpPr>
            <a:spLocks noGrp="1"/>
          </p:cNvSpPr>
          <p:nvPr>
            <p:ph sz="quarter" idx="16"/>
          </p:nvPr>
        </p:nvSpPr>
        <p:spPr>
          <a:xfrm>
            <a:off x="14858236" y="5044239"/>
            <a:ext cx="13095499" cy="1684335"/>
          </a:xfrm>
        </p:spPr>
        <p:txBody>
          <a:bodyPr/>
          <a:lstStyle/>
          <a:p>
            <a:r>
              <a:rPr lang="en-GB" dirty="0"/>
              <a:t>Adaptation of the Model Architecture</a:t>
            </a:r>
          </a:p>
          <a:p>
            <a:endParaRPr lang="en-GB" dirty="0"/>
          </a:p>
        </p:txBody>
      </p:sp>
      <p:sp>
        <p:nvSpPr>
          <p:cNvPr id="38" name="Content Placeholder 37" descr="Column 2, box 2"/>
          <p:cNvSpPr>
            <a:spLocks noGrp="1"/>
          </p:cNvSpPr>
          <p:nvPr>
            <p:ph sz="quarter" idx="20"/>
          </p:nvPr>
        </p:nvSpPr>
        <p:spPr/>
        <p:txBody>
          <a:bodyPr/>
          <a:lstStyle/>
          <a:p>
            <a:r>
              <a:rPr lang="en-GB" dirty="0"/>
              <a:t>Datasets</a:t>
            </a:r>
          </a:p>
          <a:p>
            <a:endParaRPr lang="en-GB" dirty="0"/>
          </a:p>
        </p:txBody>
      </p:sp>
      <p:sp>
        <p:nvSpPr>
          <p:cNvPr id="35" name="Content Placeholder 34" descr="Column 3, box 1"/>
          <p:cNvSpPr>
            <a:spLocks noGrp="1"/>
          </p:cNvSpPr>
          <p:nvPr>
            <p:ph sz="quarter" idx="17"/>
          </p:nvPr>
        </p:nvSpPr>
        <p:spPr>
          <a:xfrm>
            <a:off x="28547052" y="5894132"/>
            <a:ext cx="11242047" cy="862598"/>
          </a:xfrm>
        </p:spPr>
        <p:txBody>
          <a:bodyPr/>
          <a:lstStyle/>
          <a:p>
            <a:r>
              <a:rPr lang="en-GB" dirty="0"/>
              <a:t>Model Performance</a:t>
            </a:r>
            <a:r>
              <a:rPr lang="zh-CN" altLang="en-US" dirty="0"/>
              <a:t>（</a:t>
            </a:r>
            <a:r>
              <a:rPr lang="en-US" altLang="zh-CN" dirty="0"/>
              <a:t>Advantages of BERT</a:t>
            </a:r>
            <a:r>
              <a:rPr lang="zh-CN" altLang="en-US" dirty="0"/>
              <a:t>）</a:t>
            </a:r>
            <a:endParaRPr lang="en-GB" dirty="0"/>
          </a:p>
          <a:p>
            <a:endParaRPr lang="en-GB" dirty="0"/>
          </a:p>
        </p:txBody>
      </p:sp>
      <p:sp>
        <p:nvSpPr>
          <p:cNvPr id="37" name="Content Placeholder 36" descr="Column 3, box 2"/>
          <p:cNvSpPr>
            <a:spLocks noGrp="1"/>
          </p:cNvSpPr>
          <p:nvPr>
            <p:ph sz="quarter" idx="19"/>
          </p:nvPr>
        </p:nvSpPr>
        <p:spPr>
          <a:xfrm>
            <a:off x="28657881" y="14228674"/>
            <a:ext cx="11694071" cy="658100"/>
          </a:xfrm>
        </p:spPr>
        <p:txBody>
          <a:bodyPr/>
          <a:lstStyle/>
          <a:p>
            <a:r>
              <a:rPr lang="en-GB" dirty="0"/>
              <a:t>Evaluation of the </a:t>
            </a:r>
            <a:r>
              <a:rPr lang="en-GB" dirty="0" err="1"/>
              <a:t>Perfromances</a:t>
            </a:r>
            <a:endParaRPr lang="en-GB" dirty="0"/>
          </a:p>
          <a:p>
            <a:r>
              <a:rPr lang="en-US" sz="2400" dirty="0"/>
              <a:t>.</a:t>
            </a:r>
            <a:endParaRPr lang="en-GB" sz="2400" dirty="0"/>
          </a:p>
          <a:p>
            <a:r>
              <a:rPr lang="en-GB" dirty="0"/>
              <a:t> </a:t>
            </a:r>
          </a:p>
        </p:txBody>
      </p:sp>
      <p:sp>
        <p:nvSpPr>
          <p:cNvPr id="39" name="Content Placeholder 38" descr="Column 3, box 3"/>
          <p:cNvSpPr>
            <a:spLocks noGrp="1"/>
          </p:cNvSpPr>
          <p:nvPr>
            <p:ph sz="quarter" idx="21"/>
          </p:nvPr>
        </p:nvSpPr>
        <p:spPr>
          <a:xfrm>
            <a:off x="28715826" y="22698075"/>
            <a:ext cx="13104000" cy="873460"/>
          </a:xfrm>
        </p:spPr>
        <p:txBody>
          <a:bodyPr/>
          <a:lstStyle/>
          <a:p>
            <a:r>
              <a:rPr lang="en-GB" dirty="0"/>
              <a:t>Discussion and Critical Reflections on SDGs</a:t>
            </a:r>
          </a:p>
        </p:txBody>
      </p:sp>
      <p:sp>
        <p:nvSpPr>
          <p:cNvPr id="33" name="Text Placeholder 32" descr="Contact details"/>
          <p:cNvSpPr>
            <a:spLocks noGrp="1"/>
          </p:cNvSpPr>
          <p:nvPr>
            <p:ph type="body" sz="quarter" idx="13"/>
          </p:nvPr>
        </p:nvSpPr>
        <p:spPr/>
        <p:txBody>
          <a:bodyPr/>
          <a:lstStyle/>
          <a:p>
            <a:endParaRPr lang="en-GB"/>
          </a:p>
        </p:txBody>
      </p:sp>
      <p:sp>
        <p:nvSpPr>
          <p:cNvPr id="32" name="Text Placeholder 31" descr="Collaborator logos"/>
          <p:cNvSpPr>
            <a:spLocks noGrp="1"/>
          </p:cNvSpPr>
          <p:nvPr>
            <p:ph type="body" sz="quarter" idx="12"/>
          </p:nvPr>
        </p:nvSpPr>
        <p:spPr/>
        <p:txBody>
          <a:bodyPr/>
          <a:lstStyle/>
          <a:p>
            <a:r>
              <a:rPr lang="en-US" altLang="zh-CN" dirty="0">
                <a:hlinkClick r:id="rId3"/>
              </a:rPr>
              <a:t>Luo2090411/Artificial-Intelligence-for-Sustainable-Development-CW2</a:t>
            </a:r>
            <a:endParaRPr lang="en-GB" dirty="0"/>
          </a:p>
        </p:txBody>
      </p:sp>
      <p:pic>
        <p:nvPicPr>
          <p:cNvPr id="5" name="图片 4" descr="图形用户界面, 图示&#10;&#10;AI 生成的内容可能不正确。">
            <a:extLst>
              <a:ext uri="{FF2B5EF4-FFF2-40B4-BE49-F238E27FC236}">
                <a16:creationId xmlns:a16="http://schemas.microsoft.com/office/drawing/2014/main" id="{0C6C5435-4D89-75EC-182E-ED7A6450D5A2}"/>
              </a:ext>
            </a:extLst>
          </p:cNvPr>
          <p:cNvPicPr>
            <a:picLocks noChangeAspect="1"/>
          </p:cNvPicPr>
          <p:nvPr/>
        </p:nvPicPr>
        <p:blipFill>
          <a:blip r:embed="rId4"/>
          <a:stretch>
            <a:fillRect/>
          </a:stretch>
        </p:blipFill>
        <p:spPr>
          <a:xfrm>
            <a:off x="34504917" y="6561956"/>
            <a:ext cx="6987922" cy="6861234"/>
          </a:xfrm>
          <a:prstGeom prst="rect">
            <a:avLst/>
          </a:prstGeom>
        </p:spPr>
      </p:pic>
      <p:pic>
        <p:nvPicPr>
          <p:cNvPr id="10" name="图片 9" descr="图表&#10;&#10;AI 生成的内容可能不正确。">
            <a:extLst>
              <a:ext uri="{FF2B5EF4-FFF2-40B4-BE49-F238E27FC236}">
                <a16:creationId xmlns:a16="http://schemas.microsoft.com/office/drawing/2014/main" id="{CD9581DE-144E-28D8-7FAC-A851B7FA8001}"/>
              </a:ext>
            </a:extLst>
          </p:cNvPr>
          <p:cNvPicPr>
            <a:picLocks noChangeAspect="1"/>
          </p:cNvPicPr>
          <p:nvPr/>
        </p:nvPicPr>
        <p:blipFill>
          <a:blip r:embed="rId5"/>
          <a:stretch>
            <a:fillRect/>
          </a:stretch>
        </p:blipFill>
        <p:spPr>
          <a:xfrm>
            <a:off x="2570713" y="15208168"/>
            <a:ext cx="8756922" cy="5329978"/>
          </a:xfrm>
          <a:prstGeom prst="rect">
            <a:avLst/>
          </a:prstGeom>
        </p:spPr>
      </p:pic>
      <p:sp>
        <p:nvSpPr>
          <p:cNvPr id="12" name="文本框 11">
            <a:extLst>
              <a:ext uri="{FF2B5EF4-FFF2-40B4-BE49-F238E27FC236}">
                <a16:creationId xmlns:a16="http://schemas.microsoft.com/office/drawing/2014/main" id="{8FD5E642-57DF-ACEA-34A9-A2C255A70987}"/>
              </a:ext>
            </a:extLst>
          </p:cNvPr>
          <p:cNvSpPr txBox="1"/>
          <p:nvPr/>
        </p:nvSpPr>
        <p:spPr>
          <a:xfrm>
            <a:off x="1157415" y="14469184"/>
            <a:ext cx="12861294" cy="523220"/>
          </a:xfrm>
          <a:prstGeom prst="rect">
            <a:avLst/>
          </a:prstGeom>
          <a:noFill/>
        </p:spPr>
        <p:txBody>
          <a:bodyPr wrap="square" rtlCol="0">
            <a:spAutoFit/>
          </a:bodyPr>
          <a:lstStyle/>
          <a:p>
            <a:r>
              <a:rPr lang="en-US" altLang="zh-CN" sz="2800" b="1" dirty="0"/>
              <a:t>Further Sustainable Development Challenge: Online Hate → Offline Harm</a:t>
            </a:r>
            <a:endParaRPr lang="zh-CN" altLang="en-US" sz="2800" b="1" dirty="0"/>
          </a:p>
        </p:txBody>
      </p:sp>
      <p:sp>
        <p:nvSpPr>
          <p:cNvPr id="13" name="文本框 12">
            <a:extLst>
              <a:ext uri="{FF2B5EF4-FFF2-40B4-BE49-F238E27FC236}">
                <a16:creationId xmlns:a16="http://schemas.microsoft.com/office/drawing/2014/main" id="{39EE8748-CE41-6893-75A3-3210F6B82DA4}"/>
              </a:ext>
            </a:extLst>
          </p:cNvPr>
          <p:cNvSpPr txBox="1"/>
          <p:nvPr/>
        </p:nvSpPr>
        <p:spPr>
          <a:xfrm>
            <a:off x="1496409" y="20538146"/>
            <a:ext cx="11664553" cy="8032968"/>
          </a:xfrm>
          <a:prstGeom prst="rect">
            <a:avLst/>
          </a:prstGeom>
          <a:noFill/>
        </p:spPr>
        <p:txBody>
          <a:bodyPr wrap="square" rtlCol="0">
            <a:spAutoFit/>
          </a:bodyPr>
          <a:lstStyle/>
          <a:p>
            <a:r>
              <a:rPr lang="en-US" altLang="zh-CN" sz="2400" b="1" dirty="0">
                <a:latin typeface="+mj-lt"/>
              </a:rPr>
              <a:t>Challenge:</a:t>
            </a:r>
            <a:r>
              <a:rPr lang="zh-CN" altLang="en-US" sz="2400" dirty="0">
                <a:latin typeface="+mj-lt"/>
              </a:rPr>
              <a:t> </a:t>
            </a:r>
            <a:r>
              <a:rPr lang="en-US" altLang="zh-CN" sz="2400" dirty="0">
                <a:latin typeface="+mj-lt"/>
              </a:rPr>
              <a:t>As illustrated in the image, dangerous online speech(such as hate speech and incitement) can trigger real-world violence and hate crimes, which contradicts the objectives of </a:t>
            </a:r>
            <a:r>
              <a:rPr lang="en-US" altLang="zh-CN" sz="2400" b="1" dirty="0">
                <a:latin typeface="+mj-lt"/>
              </a:rPr>
              <a:t>SDG16</a:t>
            </a:r>
            <a:r>
              <a:rPr lang="zh-CN" altLang="en-US" sz="2400" dirty="0">
                <a:latin typeface="+mj-lt"/>
              </a:rPr>
              <a:t>：</a:t>
            </a:r>
            <a:r>
              <a:rPr lang="en-US" altLang="zh-CN" sz="2400" b="1" dirty="0">
                <a:latin typeface="+mj-lt"/>
              </a:rPr>
              <a:t> Peace, Justice &amp; Strong Institutions</a:t>
            </a:r>
          </a:p>
          <a:p>
            <a:endParaRPr lang="en-US" altLang="zh-CN" sz="2400" dirty="0">
              <a:latin typeface="+mj-lt"/>
            </a:endParaRPr>
          </a:p>
          <a:p>
            <a:r>
              <a:rPr lang="en-US" altLang="zh-CN" sz="2400" b="1" dirty="0">
                <a:latin typeface="+mj-lt"/>
              </a:rPr>
              <a:t>Why it matters:</a:t>
            </a:r>
            <a:r>
              <a:rPr lang="en-US" altLang="zh-CN" sz="2400" dirty="0">
                <a:latin typeface="+mj-lt"/>
              </a:rPr>
              <a:t> SDG16 aims to ensure peace, justice, and security, but weaponized online rhetoric now amplifies conflict, corruption, hate, and extremism, posing a direct threat to sustainable development.</a:t>
            </a:r>
            <a:endParaRPr lang="en-US" altLang="zh-CN" sz="2400" b="1" dirty="0">
              <a:latin typeface="+mj-lt"/>
            </a:endParaRPr>
          </a:p>
          <a:p>
            <a:endParaRPr lang="en-US" altLang="zh-CN" sz="2400" b="1" dirty="0">
              <a:latin typeface="+mj-lt"/>
            </a:endParaRPr>
          </a:p>
          <a:p>
            <a:r>
              <a:rPr lang="en-US" altLang="zh-CN" sz="2400" b="1" dirty="0">
                <a:latin typeface="+mj-lt"/>
              </a:rPr>
              <a:t>Baseline method</a:t>
            </a:r>
            <a:r>
              <a:rPr lang="en-US" altLang="zh-CN" sz="2400" dirty="0">
                <a:latin typeface="+mj-lt"/>
              </a:rPr>
              <a:t>:</a:t>
            </a:r>
          </a:p>
          <a:p>
            <a:r>
              <a:rPr lang="en-US" altLang="zh-CN" sz="2400" dirty="0">
                <a:latin typeface="+mj-lt"/>
              </a:rPr>
              <a:t>	 </a:t>
            </a:r>
            <a:r>
              <a:rPr lang="en-US" altLang="zh-CN" sz="2400" b="1" dirty="0">
                <a:latin typeface="+mj-lt"/>
              </a:rPr>
              <a:t>Data: </a:t>
            </a:r>
            <a:r>
              <a:rPr lang="en-US" altLang="zh-CN" sz="2400" dirty="0">
                <a:latin typeface="+mj-lt"/>
              </a:rPr>
              <a:t>Collect hate speech/extremist rhetoric on social media.</a:t>
            </a:r>
          </a:p>
          <a:p>
            <a:r>
              <a:rPr lang="en-US" altLang="zh-CN" sz="2400" dirty="0">
                <a:latin typeface="+mj-lt"/>
              </a:rPr>
              <a:t>	</a:t>
            </a:r>
            <a:r>
              <a:rPr lang="en-US" altLang="zh-CN" sz="2400" b="1" dirty="0">
                <a:latin typeface="+mj-lt"/>
              </a:rPr>
              <a:t>Model idea: </a:t>
            </a:r>
            <a:r>
              <a:rPr lang="en-US" altLang="zh-CN" sz="2400" dirty="0">
                <a:latin typeface="+mj-lt"/>
              </a:rPr>
              <a:t>Train the system to distinguish between "neutral expressions" and 	"dangerous speech"</a:t>
            </a:r>
          </a:p>
          <a:p>
            <a:r>
              <a:rPr lang="en-US" altLang="zh-CN" sz="2400" dirty="0">
                <a:latin typeface="+mj-lt"/>
              </a:rPr>
              <a:t>	</a:t>
            </a:r>
            <a:r>
              <a:rPr lang="en-US" altLang="zh-CN" sz="2400" b="1" dirty="0">
                <a:latin typeface="+mj-lt"/>
              </a:rPr>
              <a:t>Purpose: </a:t>
            </a:r>
            <a:r>
              <a:rPr lang="en-US" altLang="zh-CN" sz="2400" dirty="0">
                <a:latin typeface="+mj-lt"/>
              </a:rPr>
              <a:t>Quantify "hostility intensity" to filter out harmful 	speech.</a:t>
            </a:r>
          </a:p>
          <a:p>
            <a:endParaRPr lang="en-US" altLang="zh-CN" sz="2400" dirty="0">
              <a:latin typeface="+mj-lt"/>
            </a:endParaRPr>
          </a:p>
          <a:p>
            <a:r>
              <a:rPr lang="en-US" altLang="zh-CN" sz="2400" b="1" dirty="0">
                <a:latin typeface="+mj-lt"/>
              </a:rPr>
              <a:t>Outcome</a:t>
            </a:r>
            <a:r>
              <a:rPr lang="en-US" altLang="zh-CN" sz="2400" dirty="0">
                <a:latin typeface="+mj-lt"/>
              </a:rPr>
              <a:t>: Based on stereotypes, further identify hostile and dangerous speech, providing data support for policymaking, platform regulation, and community protection, promoting a more peaceful and safer digital and real-world environment</a:t>
            </a:r>
            <a:r>
              <a:rPr lang="en-US" altLang="zh-CN" sz="2400" dirty="0"/>
              <a:t>.</a:t>
            </a:r>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4" name="图片 3" descr="图表&#10;&#10;AI 生成的内容可能不正确。">
            <a:extLst>
              <a:ext uri="{FF2B5EF4-FFF2-40B4-BE49-F238E27FC236}">
                <a16:creationId xmlns:a16="http://schemas.microsoft.com/office/drawing/2014/main" id="{52395A85-8086-EA56-170E-20231F981350}"/>
              </a:ext>
            </a:extLst>
          </p:cNvPr>
          <p:cNvPicPr>
            <a:picLocks noChangeAspect="1"/>
          </p:cNvPicPr>
          <p:nvPr/>
        </p:nvPicPr>
        <p:blipFill>
          <a:blip r:embed="rId6"/>
          <a:stretch>
            <a:fillRect/>
          </a:stretch>
        </p:blipFill>
        <p:spPr>
          <a:xfrm>
            <a:off x="1445015" y="6436216"/>
            <a:ext cx="4593106" cy="3729705"/>
          </a:xfrm>
          <a:prstGeom prst="rect">
            <a:avLst/>
          </a:prstGeom>
          <a:ln>
            <a:noFill/>
          </a:ln>
          <a:effectLst>
            <a:outerShdw blurRad="292100" dist="139700" dir="2700000" algn="tl" rotWithShape="0">
              <a:srgbClr val="333333">
                <a:alpha val="65000"/>
              </a:srgbClr>
            </a:outerShdw>
          </a:effectLst>
        </p:spPr>
      </p:pic>
      <p:sp>
        <p:nvSpPr>
          <p:cNvPr id="16" name="文本框 15">
            <a:extLst>
              <a:ext uri="{FF2B5EF4-FFF2-40B4-BE49-F238E27FC236}">
                <a16:creationId xmlns:a16="http://schemas.microsoft.com/office/drawing/2014/main" id="{9A9B9C37-E7A4-F7D5-DA30-999DD3A4A01F}"/>
              </a:ext>
            </a:extLst>
          </p:cNvPr>
          <p:cNvSpPr txBox="1"/>
          <p:nvPr/>
        </p:nvSpPr>
        <p:spPr>
          <a:xfrm>
            <a:off x="6397608" y="6264996"/>
            <a:ext cx="6862536" cy="4124206"/>
          </a:xfrm>
          <a:prstGeom prst="rect">
            <a:avLst/>
          </a:prstGeom>
          <a:noFill/>
        </p:spPr>
        <p:txBody>
          <a:bodyPr wrap="square" rtlCol="0">
            <a:spAutoFit/>
          </a:bodyPr>
          <a:lstStyle/>
          <a:p>
            <a:r>
              <a:rPr lang="en-US" altLang="zh-CN" sz="2800" b="1" dirty="0"/>
              <a:t>AI and stereotypes</a:t>
            </a:r>
          </a:p>
          <a:p>
            <a:endParaRPr lang="en-US" altLang="zh-CN" sz="2400" b="1" dirty="0"/>
          </a:p>
          <a:p>
            <a:r>
              <a:rPr lang="en-US" altLang="zh-CN" sz="2400" dirty="0"/>
              <a:t>-Harmful stereotypes in text reinforce bias against </a:t>
            </a:r>
            <a:r>
              <a:rPr lang="en-US" altLang="zh-CN" sz="2400" b="1" dirty="0"/>
              <a:t>gender, minority, and racial groups</a:t>
            </a:r>
            <a:r>
              <a:rPr lang="en-US" altLang="zh-CN" sz="2400" dirty="0"/>
              <a:t>.</a:t>
            </a:r>
          </a:p>
          <a:p>
            <a:endParaRPr lang="en-US" altLang="zh-CN" sz="2400" dirty="0"/>
          </a:p>
          <a:p>
            <a:r>
              <a:rPr lang="en-US" altLang="zh-CN" sz="2400" dirty="0"/>
              <a:t>-Online prejudice spreads widely and impacts fairness in AI systems.</a:t>
            </a:r>
          </a:p>
          <a:p>
            <a:endParaRPr lang="en-US" altLang="zh-CN" sz="2400" dirty="0"/>
          </a:p>
          <a:p>
            <a:r>
              <a:rPr lang="en-US" altLang="zh-CN" sz="2400" dirty="0"/>
              <a:t>-Biased models risk amplifying discrimination and undermining </a:t>
            </a:r>
            <a:r>
              <a:rPr lang="en-US" altLang="zh-CN" sz="2400" b="1" dirty="0"/>
              <a:t>SDG5, SDG10</a:t>
            </a:r>
            <a:r>
              <a:rPr lang="en-US" altLang="zh-CN" sz="2400" dirty="0"/>
              <a:t>.</a:t>
            </a:r>
          </a:p>
          <a:p>
            <a:endParaRPr lang="zh-CN" altLang="en-US" dirty="0"/>
          </a:p>
        </p:txBody>
      </p:sp>
      <p:sp>
        <p:nvSpPr>
          <p:cNvPr id="17" name="文本框 16">
            <a:extLst>
              <a:ext uri="{FF2B5EF4-FFF2-40B4-BE49-F238E27FC236}">
                <a16:creationId xmlns:a16="http://schemas.microsoft.com/office/drawing/2014/main" id="{2D017E44-2631-CA5F-0B82-31B6974B2779}"/>
              </a:ext>
            </a:extLst>
          </p:cNvPr>
          <p:cNvSpPr txBox="1"/>
          <p:nvPr/>
        </p:nvSpPr>
        <p:spPr>
          <a:xfrm>
            <a:off x="1496409" y="10646092"/>
            <a:ext cx="11982054" cy="2800767"/>
          </a:xfrm>
          <a:prstGeom prst="rect">
            <a:avLst/>
          </a:prstGeom>
          <a:noFill/>
        </p:spPr>
        <p:txBody>
          <a:bodyPr wrap="square" rtlCol="0">
            <a:spAutoFit/>
          </a:bodyPr>
          <a:lstStyle/>
          <a:p>
            <a:r>
              <a:rPr lang="en-US" altLang="zh-CN" sz="2400" b="1" dirty="0"/>
              <a:t>Require</a:t>
            </a:r>
            <a:r>
              <a:rPr lang="zh-CN" altLang="en-US" sz="2400" b="1" dirty="0"/>
              <a:t>：</a:t>
            </a:r>
            <a:r>
              <a:rPr lang="en-US" altLang="zh-CN" sz="2400" dirty="0"/>
              <a:t>AI systems must detect and mitigate stereotypes without amplifying bias or discrimination.</a:t>
            </a:r>
          </a:p>
          <a:p>
            <a:endParaRPr lang="en-US" altLang="zh-CN" sz="2400" dirty="0"/>
          </a:p>
          <a:p>
            <a:r>
              <a:rPr lang="en-US" altLang="zh-CN" sz="2400" b="1" dirty="0"/>
              <a:t>Solution</a:t>
            </a:r>
            <a:r>
              <a:rPr lang="zh-CN" altLang="en-US" sz="2400" b="1" dirty="0"/>
              <a:t>：</a:t>
            </a:r>
            <a:r>
              <a:rPr lang="en-US" altLang="zh-CN" sz="2400" dirty="0"/>
              <a:t>HEARTS provides a low-carbon, explainable model that identifies stereotypes across gender, minority, and racial groups while comparing multiple AI models to evaluate their bias</a:t>
            </a:r>
            <a:endParaRPr lang="en-US" altLang="zh-CN" sz="3200" dirty="0"/>
          </a:p>
          <a:p>
            <a:endParaRPr lang="zh-CN" altLang="en-US" sz="3200" dirty="0"/>
          </a:p>
        </p:txBody>
      </p:sp>
      <p:graphicFrame>
        <p:nvGraphicFramePr>
          <p:cNvPr id="18" name="图示 17">
            <a:extLst>
              <a:ext uri="{FF2B5EF4-FFF2-40B4-BE49-F238E27FC236}">
                <a16:creationId xmlns:a16="http://schemas.microsoft.com/office/drawing/2014/main" id="{FEAE5CB5-0897-CBF6-765C-0DC786BDFF0A}"/>
              </a:ext>
            </a:extLst>
          </p:cNvPr>
          <p:cNvGraphicFramePr/>
          <p:nvPr>
            <p:extLst>
              <p:ext uri="{D42A27DB-BD31-4B8C-83A1-F6EECF244321}">
                <p14:modId xmlns:p14="http://schemas.microsoft.com/office/powerpoint/2010/main" val="3548040763"/>
              </p:ext>
            </p:extLst>
          </p:nvPr>
        </p:nvGraphicFramePr>
        <p:xfrm>
          <a:off x="15229623" y="5651606"/>
          <a:ext cx="9196710" cy="619160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9" name="文本框 18">
            <a:extLst>
              <a:ext uri="{FF2B5EF4-FFF2-40B4-BE49-F238E27FC236}">
                <a16:creationId xmlns:a16="http://schemas.microsoft.com/office/drawing/2014/main" id="{23399822-0645-3EBE-3B31-5A0DA378852F}"/>
              </a:ext>
            </a:extLst>
          </p:cNvPr>
          <p:cNvSpPr txBox="1"/>
          <p:nvPr/>
        </p:nvSpPr>
        <p:spPr>
          <a:xfrm>
            <a:off x="24864130" y="6756729"/>
            <a:ext cx="2626725" cy="2718657"/>
          </a:xfrm>
          <a:prstGeom prst="rect">
            <a:avLst/>
          </a:prstGeom>
          <a:noFill/>
          <a:ln>
            <a:solidFill>
              <a:schemeClr val="tx1"/>
            </a:solidFill>
          </a:ln>
        </p:spPr>
        <p:txBody>
          <a:bodyPr wrap="square" rtlCol="0">
            <a:spAutoFit/>
          </a:bodyPr>
          <a:lstStyle/>
          <a:p>
            <a:r>
              <a:rPr lang="en-US" altLang="zh-CN" sz="2800" b="1" dirty="0"/>
              <a:t>Feedback</a:t>
            </a:r>
            <a:r>
              <a:rPr lang="zh-CN" altLang="en-US" sz="2400" b="1" dirty="0"/>
              <a:t>：</a:t>
            </a:r>
            <a:endParaRPr lang="en-US" altLang="zh-CN" sz="2400" dirty="0"/>
          </a:p>
          <a:p>
            <a:r>
              <a:rPr lang="en-US" altLang="zh-CN" sz="2400" dirty="0"/>
              <a:t>Use SHAP and LIME to interpret model predictions and compare the behaviors of different models.</a:t>
            </a:r>
            <a:endParaRPr lang="zh-CN" altLang="en-US" sz="2400" dirty="0"/>
          </a:p>
        </p:txBody>
      </p:sp>
      <p:sp>
        <p:nvSpPr>
          <p:cNvPr id="20" name="箭头: 左 19">
            <a:extLst>
              <a:ext uri="{FF2B5EF4-FFF2-40B4-BE49-F238E27FC236}">
                <a16:creationId xmlns:a16="http://schemas.microsoft.com/office/drawing/2014/main" id="{F7BA9F65-2D64-B7E7-9C60-DC839B6BF8CC}"/>
              </a:ext>
            </a:extLst>
          </p:cNvPr>
          <p:cNvSpPr/>
          <p:nvPr/>
        </p:nvSpPr>
        <p:spPr>
          <a:xfrm>
            <a:off x="23647415" y="9111224"/>
            <a:ext cx="859817" cy="689169"/>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F93FC29B-EEAB-9DB5-6F06-54289BBBAA05}"/>
              </a:ext>
            </a:extLst>
          </p:cNvPr>
          <p:cNvSpPr txBox="1"/>
          <p:nvPr/>
        </p:nvSpPr>
        <p:spPr>
          <a:xfrm>
            <a:off x="15095623" y="15258170"/>
            <a:ext cx="7023370" cy="707886"/>
          </a:xfrm>
          <a:prstGeom prst="rect">
            <a:avLst/>
          </a:prstGeom>
          <a:noFill/>
        </p:spPr>
        <p:txBody>
          <a:bodyPr wrap="square" rtlCol="0">
            <a:spAutoFit/>
          </a:bodyPr>
          <a:lstStyle/>
          <a:p>
            <a:r>
              <a:rPr lang="en-US" altLang="zh-CN" sz="4000" dirty="0"/>
              <a:t>SAFETEXT</a:t>
            </a:r>
            <a:endParaRPr lang="zh-CN" altLang="en-US" sz="4000" dirty="0"/>
          </a:p>
        </p:txBody>
      </p:sp>
      <p:sp>
        <p:nvSpPr>
          <p:cNvPr id="25" name="文本框 24">
            <a:extLst>
              <a:ext uri="{FF2B5EF4-FFF2-40B4-BE49-F238E27FC236}">
                <a16:creationId xmlns:a16="http://schemas.microsoft.com/office/drawing/2014/main" id="{9F6906D4-A878-0EEF-4015-D295AF7C01CF}"/>
              </a:ext>
            </a:extLst>
          </p:cNvPr>
          <p:cNvSpPr txBox="1"/>
          <p:nvPr/>
        </p:nvSpPr>
        <p:spPr>
          <a:xfrm>
            <a:off x="18750438" y="11291830"/>
            <a:ext cx="9305868" cy="3539430"/>
          </a:xfrm>
          <a:prstGeom prst="rect">
            <a:avLst/>
          </a:prstGeom>
          <a:noFill/>
        </p:spPr>
        <p:txBody>
          <a:bodyPr wrap="square" rtlCol="0">
            <a:spAutoFit/>
          </a:bodyPr>
          <a:lstStyle/>
          <a:p>
            <a:endParaRPr lang="en-US" altLang="zh-CN" sz="2800" dirty="0"/>
          </a:p>
          <a:p>
            <a:r>
              <a:rPr lang="en-US" altLang="zh-CN" sz="2800" dirty="0"/>
              <a:t>· used the original framework's data flow structure</a:t>
            </a:r>
          </a:p>
          <a:p>
            <a:endParaRPr lang="en-US" altLang="zh-CN" sz="2800" dirty="0"/>
          </a:p>
          <a:p>
            <a:r>
              <a:rPr lang="en-US" altLang="zh-CN" sz="2800" dirty="0"/>
              <a:t>·replicated the HEARTS data format, but focused on offensive language</a:t>
            </a:r>
          </a:p>
          <a:p>
            <a:r>
              <a:rPr lang="en-US" altLang="zh-CN" sz="2800" dirty="0"/>
              <a:t> </a:t>
            </a:r>
          </a:p>
          <a:p>
            <a:r>
              <a:rPr lang="en-US" altLang="zh-CN" sz="2800" dirty="0"/>
              <a:t>·referenced the </a:t>
            </a:r>
            <a:r>
              <a:rPr lang="en-US" altLang="zh-CN" sz="2800" b="1" dirty="0"/>
              <a:t>BERT</a:t>
            </a:r>
            <a:r>
              <a:rPr lang="en-US" altLang="zh-CN" sz="2800" dirty="0"/>
              <a:t> series models for stereotype classification.</a:t>
            </a:r>
            <a:endParaRPr lang="zh-CN" altLang="en-US" sz="2800" dirty="0"/>
          </a:p>
        </p:txBody>
      </p:sp>
      <p:graphicFrame>
        <p:nvGraphicFramePr>
          <p:cNvPr id="42" name="图表 41">
            <a:extLst>
              <a:ext uri="{FF2B5EF4-FFF2-40B4-BE49-F238E27FC236}">
                <a16:creationId xmlns:a16="http://schemas.microsoft.com/office/drawing/2014/main" id="{43EE6E0B-EE00-5AB2-3D5C-C063A941450C}"/>
              </a:ext>
            </a:extLst>
          </p:cNvPr>
          <p:cNvGraphicFramePr/>
          <p:nvPr>
            <p:extLst>
              <p:ext uri="{D42A27DB-BD31-4B8C-83A1-F6EECF244321}">
                <p14:modId xmlns:p14="http://schemas.microsoft.com/office/powerpoint/2010/main" val="1573899463"/>
              </p:ext>
            </p:extLst>
          </p:nvPr>
        </p:nvGraphicFramePr>
        <p:xfrm>
          <a:off x="14234591" y="20972834"/>
          <a:ext cx="6740117" cy="6433766"/>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46" name="图示 45">
            <a:extLst>
              <a:ext uri="{FF2B5EF4-FFF2-40B4-BE49-F238E27FC236}">
                <a16:creationId xmlns:a16="http://schemas.microsoft.com/office/drawing/2014/main" id="{827A072B-6ADC-FDE8-7CD9-CFAB9326AA86}"/>
              </a:ext>
            </a:extLst>
          </p:cNvPr>
          <p:cNvGraphicFramePr/>
          <p:nvPr>
            <p:extLst>
              <p:ext uri="{D42A27DB-BD31-4B8C-83A1-F6EECF244321}">
                <p14:modId xmlns:p14="http://schemas.microsoft.com/office/powerpoint/2010/main" val="2273086607"/>
              </p:ext>
            </p:extLst>
          </p:nvPr>
        </p:nvGraphicFramePr>
        <p:xfrm>
          <a:off x="15095623" y="15443679"/>
          <a:ext cx="12395232" cy="336825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3" name="箭头: 下 22">
            <a:extLst>
              <a:ext uri="{FF2B5EF4-FFF2-40B4-BE49-F238E27FC236}">
                <a16:creationId xmlns:a16="http://schemas.microsoft.com/office/drawing/2014/main" id="{30D522C0-3E4F-88D5-1B59-02825EC25487}"/>
              </a:ext>
            </a:extLst>
          </p:cNvPr>
          <p:cNvSpPr/>
          <p:nvPr/>
        </p:nvSpPr>
        <p:spPr>
          <a:xfrm>
            <a:off x="16043843" y="11945048"/>
            <a:ext cx="1853010" cy="3128938"/>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imitate</a:t>
            </a:r>
            <a:endParaRPr lang="zh-CN" altLang="en-US" dirty="0"/>
          </a:p>
        </p:txBody>
      </p:sp>
      <p:sp>
        <p:nvSpPr>
          <p:cNvPr id="47" name="文本框 46">
            <a:extLst>
              <a:ext uri="{FF2B5EF4-FFF2-40B4-BE49-F238E27FC236}">
                <a16:creationId xmlns:a16="http://schemas.microsoft.com/office/drawing/2014/main" id="{3037DF37-C253-8ECA-6B93-352080960F91}"/>
              </a:ext>
            </a:extLst>
          </p:cNvPr>
          <p:cNvSpPr txBox="1"/>
          <p:nvPr/>
        </p:nvSpPr>
        <p:spPr>
          <a:xfrm>
            <a:off x="15516172" y="12798628"/>
            <a:ext cx="4176954" cy="1077218"/>
          </a:xfrm>
          <a:prstGeom prst="rect">
            <a:avLst/>
          </a:prstGeom>
          <a:noFill/>
        </p:spPr>
        <p:txBody>
          <a:bodyPr wrap="square" rtlCol="0">
            <a:spAutoFit/>
          </a:bodyPr>
          <a:lstStyle/>
          <a:p>
            <a:r>
              <a:rPr lang="en-US" altLang="zh-CN" sz="3200" b="1" dirty="0"/>
              <a:t>Adopting core modules</a:t>
            </a:r>
            <a:endParaRPr lang="zh-CN" altLang="en-US" sz="3200" b="1" dirty="0"/>
          </a:p>
        </p:txBody>
      </p:sp>
      <p:sp>
        <p:nvSpPr>
          <p:cNvPr id="49" name="文本框 48">
            <a:extLst>
              <a:ext uri="{FF2B5EF4-FFF2-40B4-BE49-F238E27FC236}">
                <a16:creationId xmlns:a16="http://schemas.microsoft.com/office/drawing/2014/main" id="{3404AD54-F842-5886-B681-65993AB21D9C}"/>
              </a:ext>
            </a:extLst>
          </p:cNvPr>
          <p:cNvSpPr txBox="1"/>
          <p:nvPr/>
        </p:nvSpPr>
        <p:spPr>
          <a:xfrm>
            <a:off x="15353763" y="6148939"/>
            <a:ext cx="7023370" cy="707886"/>
          </a:xfrm>
          <a:prstGeom prst="rect">
            <a:avLst/>
          </a:prstGeom>
          <a:noFill/>
        </p:spPr>
        <p:txBody>
          <a:bodyPr wrap="square" rtlCol="0">
            <a:spAutoFit/>
          </a:bodyPr>
          <a:lstStyle/>
          <a:p>
            <a:r>
              <a:rPr lang="en-US" altLang="zh-CN" sz="4000" dirty="0"/>
              <a:t>HEARTS</a:t>
            </a:r>
            <a:endParaRPr lang="zh-CN" altLang="en-US" sz="4000" dirty="0"/>
          </a:p>
        </p:txBody>
      </p:sp>
      <p:sp>
        <p:nvSpPr>
          <p:cNvPr id="50" name="矩形 49">
            <a:extLst>
              <a:ext uri="{FF2B5EF4-FFF2-40B4-BE49-F238E27FC236}">
                <a16:creationId xmlns:a16="http://schemas.microsoft.com/office/drawing/2014/main" id="{B39470DD-F126-004B-6A6D-D4CED607E7CD}"/>
              </a:ext>
            </a:extLst>
          </p:cNvPr>
          <p:cNvSpPr/>
          <p:nvPr/>
        </p:nvSpPr>
        <p:spPr>
          <a:xfrm>
            <a:off x="14858236" y="15258170"/>
            <a:ext cx="12826683" cy="35537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4F3E4DA8-F210-8799-E100-56DFD475328A}"/>
              </a:ext>
            </a:extLst>
          </p:cNvPr>
          <p:cNvSpPr txBox="1"/>
          <p:nvPr/>
        </p:nvSpPr>
        <p:spPr>
          <a:xfrm>
            <a:off x="20685902" y="21111245"/>
            <a:ext cx="7266797" cy="5262979"/>
          </a:xfrm>
          <a:prstGeom prst="rect">
            <a:avLst/>
          </a:prstGeom>
          <a:noFill/>
        </p:spPr>
        <p:txBody>
          <a:bodyPr wrap="square" rtlCol="0">
            <a:spAutoFit/>
          </a:bodyPr>
          <a:lstStyle/>
          <a:p>
            <a:r>
              <a:rPr lang="en-US" altLang="zh-CN" sz="2800" dirty="0"/>
              <a:t>While HEARTS uses a dataset whose labels focus on group-based stereotypes and semantic bias, my project targets social risk and hostility.</a:t>
            </a:r>
          </a:p>
          <a:p>
            <a:endParaRPr lang="en-US" altLang="zh-CN" sz="2800" dirty="0"/>
          </a:p>
          <a:p>
            <a:r>
              <a:rPr lang="en-US" altLang="zh-CN" sz="2800" dirty="0"/>
              <a:t> I therefore selected political forums as the data source. Sentences containing direct violence or threat terms (e.g., attack, kill) are labeled strongly aggressive, those with mild insults or stereotypes are labeled weakly aggressive, and all others are marked neutral.</a:t>
            </a:r>
            <a:endParaRPr lang="zh-CN" altLang="en-US" sz="2800" dirty="0"/>
          </a:p>
        </p:txBody>
      </p:sp>
      <p:sp>
        <p:nvSpPr>
          <p:cNvPr id="52" name="文本框 51">
            <a:extLst>
              <a:ext uri="{FF2B5EF4-FFF2-40B4-BE49-F238E27FC236}">
                <a16:creationId xmlns:a16="http://schemas.microsoft.com/office/drawing/2014/main" id="{F34ED02B-63E6-1EF3-1697-340D8F0E5930}"/>
              </a:ext>
            </a:extLst>
          </p:cNvPr>
          <p:cNvSpPr txBox="1"/>
          <p:nvPr/>
        </p:nvSpPr>
        <p:spPr>
          <a:xfrm>
            <a:off x="28794158" y="6703678"/>
            <a:ext cx="5565926" cy="7755969"/>
          </a:xfrm>
          <a:prstGeom prst="rect">
            <a:avLst/>
          </a:prstGeom>
          <a:noFill/>
        </p:spPr>
        <p:txBody>
          <a:bodyPr wrap="square" rtlCol="0">
            <a:spAutoFit/>
          </a:bodyPr>
          <a:lstStyle/>
          <a:p>
            <a:r>
              <a:rPr lang="en-US" altLang="zh-CN" sz="2400" b="1" dirty="0"/>
              <a:t>Context-dependent semantic interpretation</a:t>
            </a:r>
            <a:r>
              <a:rPr lang="en-US" altLang="zh-CN" sz="2400" dirty="0"/>
              <a:t>: BERT lets each word shift meaning based on surrounding text, enabling detection of sarcasm, subtle hostility, and group bias that simpler models often miss.</a:t>
            </a:r>
          </a:p>
          <a:p>
            <a:endParaRPr lang="en-US" altLang="zh-CN" sz="2400" dirty="0"/>
          </a:p>
          <a:p>
            <a:r>
              <a:rPr lang="en-US" altLang="zh-CN" sz="2400" b="1" dirty="0"/>
              <a:t>Strong semantic foundation</a:t>
            </a:r>
            <a:r>
              <a:rPr lang="en-US" altLang="zh-CN" sz="2400" dirty="0"/>
              <a:t>: Its large-scale pretraining lowers training cost and supports stable, reliable SDG16 danger predictions.</a:t>
            </a:r>
          </a:p>
          <a:p>
            <a:endParaRPr lang="en-US" altLang="zh-CN" sz="2400" dirty="0"/>
          </a:p>
          <a:p>
            <a:r>
              <a:rPr lang="en-US" altLang="zh-CN" sz="2400" b="1" dirty="0"/>
              <a:t>BERT is  efficient: </a:t>
            </a:r>
            <a:r>
              <a:rPr lang="en-US" altLang="zh-CN" sz="2400" dirty="0"/>
              <a:t>because it reuses a single bidirectional Transformer encoder for all tokens, allowing parallel processing and reducing training redundancy. </a:t>
            </a:r>
          </a:p>
          <a:p>
            <a:endParaRPr lang="en-US" altLang="zh-CN" dirty="0"/>
          </a:p>
          <a:p>
            <a:endParaRPr lang="en-US" altLang="zh-CN" dirty="0"/>
          </a:p>
          <a:p>
            <a:endParaRPr lang="en-US" altLang="zh-CN" dirty="0"/>
          </a:p>
          <a:p>
            <a:endParaRPr lang="en-US" altLang="zh-CN" dirty="0"/>
          </a:p>
          <a:p>
            <a:endParaRPr lang="zh-CN" altLang="en-US" dirty="0"/>
          </a:p>
        </p:txBody>
      </p:sp>
      <p:sp>
        <p:nvSpPr>
          <p:cNvPr id="53" name="文本框 52">
            <a:extLst>
              <a:ext uri="{FF2B5EF4-FFF2-40B4-BE49-F238E27FC236}">
                <a16:creationId xmlns:a16="http://schemas.microsoft.com/office/drawing/2014/main" id="{6572C2C5-7F2D-EDA5-76A8-00A606BCAB76}"/>
              </a:ext>
            </a:extLst>
          </p:cNvPr>
          <p:cNvSpPr txBox="1"/>
          <p:nvPr/>
        </p:nvSpPr>
        <p:spPr>
          <a:xfrm>
            <a:off x="28909891" y="15898070"/>
            <a:ext cx="6683976" cy="4185761"/>
          </a:xfrm>
          <a:prstGeom prst="rect">
            <a:avLst/>
          </a:prstGeom>
          <a:noFill/>
        </p:spPr>
        <p:txBody>
          <a:bodyPr wrap="square" rtlCol="0">
            <a:spAutoFit/>
          </a:bodyPr>
          <a:lstStyle/>
          <a:p>
            <a:r>
              <a:rPr lang="en-US" altLang="zh-CN" sz="3200" b="1" dirty="0"/>
              <a:t>Strengths</a:t>
            </a:r>
            <a:r>
              <a:rPr lang="zh-CN" altLang="en-US" sz="3200" b="1" dirty="0"/>
              <a:t>：</a:t>
            </a:r>
            <a:endParaRPr lang="en-US" altLang="zh-CN" sz="2400" dirty="0"/>
          </a:p>
          <a:p>
            <a:r>
              <a:rPr lang="en-US" altLang="zh-CN" sz="2400" dirty="0"/>
              <a:t>	-Accurate on explicit threats</a:t>
            </a:r>
          </a:p>
          <a:p>
            <a:r>
              <a:rPr lang="en-US" altLang="zh-CN" sz="2400" dirty="0"/>
              <a:t>	-Conservative on neutral text</a:t>
            </a:r>
          </a:p>
          <a:p>
            <a:r>
              <a:rPr lang="en-US" altLang="zh-CN" sz="2400" dirty="0"/>
              <a:t>	- Captures hostile stereotypes: Sensitive to strong insults</a:t>
            </a:r>
          </a:p>
          <a:p>
            <a:r>
              <a:rPr lang="en-US" altLang="zh-CN" sz="2400" dirty="0"/>
              <a:t>	-Danger prediction is consistent with negative emotions and negative regard.</a:t>
            </a:r>
          </a:p>
          <a:p>
            <a:endParaRPr lang="en-US" altLang="zh-CN" sz="2400" dirty="0"/>
          </a:p>
          <a:p>
            <a:endParaRPr lang="en-US" altLang="zh-CN" sz="2400" dirty="0"/>
          </a:p>
          <a:p>
            <a:endParaRPr lang="en-US" altLang="zh-CN" sz="2400" dirty="0"/>
          </a:p>
          <a:p>
            <a:endParaRPr lang="zh-CN" altLang="en-US" dirty="0"/>
          </a:p>
        </p:txBody>
      </p:sp>
      <p:sp>
        <p:nvSpPr>
          <p:cNvPr id="55" name="文本框 54">
            <a:extLst>
              <a:ext uri="{FF2B5EF4-FFF2-40B4-BE49-F238E27FC236}">
                <a16:creationId xmlns:a16="http://schemas.microsoft.com/office/drawing/2014/main" id="{3E96AED3-A604-D63D-42F4-74AFF96304FF}"/>
              </a:ext>
            </a:extLst>
          </p:cNvPr>
          <p:cNvSpPr txBox="1"/>
          <p:nvPr/>
        </p:nvSpPr>
        <p:spPr>
          <a:xfrm>
            <a:off x="35379412" y="15898070"/>
            <a:ext cx="6397313" cy="4278094"/>
          </a:xfrm>
          <a:prstGeom prst="rect">
            <a:avLst/>
          </a:prstGeom>
          <a:noFill/>
        </p:spPr>
        <p:txBody>
          <a:bodyPr wrap="square" rtlCol="0">
            <a:spAutoFit/>
          </a:bodyPr>
          <a:lstStyle/>
          <a:p>
            <a:r>
              <a:rPr lang="en-US" altLang="zh-CN" sz="3200" b="1" dirty="0"/>
              <a:t>Limitations</a:t>
            </a:r>
            <a:r>
              <a:rPr lang="zh-CN" altLang="en-US" sz="3200" b="1" dirty="0"/>
              <a:t>：</a:t>
            </a:r>
            <a:endParaRPr lang="en-US" altLang="zh-CN" sz="2400" dirty="0"/>
          </a:p>
          <a:p>
            <a:r>
              <a:rPr lang="en-US" altLang="zh-CN" sz="2400" dirty="0"/>
              <a:t>-Few misses implicit threats</a:t>
            </a:r>
          </a:p>
          <a:p>
            <a:endParaRPr lang="en-US" altLang="zh-CN" sz="2400" dirty="0"/>
          </a:p>
          <a:p>
            <a:r>
              <a:rPr lang="en-US" altLang="zh-CN" sz="2400" dirty="0"/>
              <a:t>-Sensitive to certain statements</a:t>
            </a:r>
          </a:p>
          <a:p>
            <a:r>
              <a:rPr lang="en-US" altLang="zh-CN" sz="2400" dirty="0"/>
              <a:t>-Over-reliance on keywords: keywords may cause the original intent to be ignored.</a:t>
            </a:r>
          </a:p>
          <a:p>
            <a:endParaRPr lang="en-US" altLang="zh-CN" sz="2400" dirty="0"/>
          </a:p>
          <a:p>
            <a:endParaRPr lang="en-US" altLang="zh-CN" sz="2400" dirty="0"/>
          </a:p>
          <a:p>
            <a:endParaRPr lang="en-US" altLang="zh-CN" sz="2400" dirty="0"/>
          </a:p>
          <a:p>
            <a:endParaRPr lang="en-US" altLang="zh-CN" sz="2400" dirty="0"/>
          </a:p>
          <a:p>
            <a:endParaRPr lang="zh-CN" altLang="en-US" sz="2400" dirty="0"/>
          </a:p>
        </p:txBody>
      </p:sp>
      <p:pic>
        <p:nvPicPr>
          <p:cNvPr id="58" name="图片 57" descr="图表&#10;&#10;AI 生成的内容可能不正确。">
            <a:extLst>
              <a:ext uri="{FF2B5EF4-FFF2-40B4-BE49-F238E27FC236}">
                <a16:creationId xmlns:a16="http://schemas.microsoft.com/office/drawing/2014/main" id="{FA26AEE2-14EE-9E7D-7928-379DB9650D0A}"/>
              </a:ext>
            </a:extLst>
          </p:cNvPr>
          <p:cNvPicPr>
            <a:picLocks noChangeAspect="1"/>
          </p:cNvPicPr>
          <p:nvPr/>
        </p:nvPicPr>
        <p:blipFill>
          <a:blip r:embed="rId18"/>
          <a:stretch>
            <a:fillRect/>
          </a:stretch>
        </p:blipFill>
        <p:spPr>
          <a:xfrm>
            <a:off x="29053082" y="19260507"/>
            <a:ext cx="11917118" cy="2265818"/>
          </a:xfrm>
          <a:prstGeom prst="rect">
            <a:avLst/>
          </a:prstGeom>
        </p:spPr>
      </p:pic>
      <p:sp>
        <p:nvSpPr>
          <p:cNvPr id="59" name="文本框 58">
            <a:extLst>
              <a:ext uri="{FF2B5EF4-FFF2-40B4-BE49-F238E27FC236}">
                <a16:creationId xmlns:a16="http://schemas.microsoft.com/office/drawing/2014/main" id="{3F82D3C2-2C17-33B0-0000-01CA1AB9E382}"/>
              </a:ext>
            </a:extLst>
          </p:cNvPr>
          <p:cNvSpPr txBox="1"/>
          <p:nvPr/>
        </p:nvSpPr>
        <p:spPr>
          <a:xfrm>
            <a:off x="33910130" y="21588375"/>
            <a:ext cx="7378700" cy="369332"/>
          </a:xfrm>
          <a:prstGeom prst="rect">
            <a:avLst/>
          </a:prstGeom>
          <a:noFill/>
        </p:spPr>
        <p:txBody>
          <a:bodyPr wrap="square" rtlCol="0">
            <a:spAutoFit/>
          </a:bodyPr>
          <a:lstStyle/>
          <a:p>
            <a:r>
              <a:rPr lang="en-US" altLang="zh-CN" dirty="0"/>
              <a:t>Example output</a:t>
            </a:r>
            <a:endParaRPr lang="zh-CN" altLang="en-US" dirty="0"/>
          </a:p>
        </p:txBody>
      </p:sp>
      <p:sp>
        <p:nvSpPr>
          <p:cNvPr id="63" name="文本框 62">
            <a:extLst>
              <a:ext uri="{FF2B5EF4-FFF2-40B4-BE49-F238E27FC236}">
                <a16:creationId xmlns:a16="http://schemas.microsoft.com/office/drawing/2014/main" id="{09E1070E-47FC-1056-35BB-F6C6AB2DEF4E}"/>
              </a:ext>
            </a:extLst>
          </p:cNvPr>
          <p:cNvSpPr txBox="1"/>
          <p:nvPr/>
        </p:nvSpPr>
        <p:spPr>
          <a:xfrm>
            <a:off x="28715826" y="14920061"/>
            <a:ext cx="9418710" cy="830997"/>
          </a:xfrm>
          <a:prstGeom prst="rect">
            <a:avLst/>
          </a:prstGeom>
          <a:noFill/>
        </p:spPr>
        <p:txBody>
          <a:bodyPr wrap="square" rtlCol="0">
            <a:spAutoFit/>
          </a:bodyPr>
          <a:lstStyle/>
          <a:p>
            <a:r>
              <a:rPr lang="en-US" altLang="zh-CN" sz="2400" i="1" dirty="0"/>
              <a:t>By combining the output of the original model, the model's output results can be evaluated more accurately</a:t>
            </a:r>
            <a:endParaRPr lang="zh-CN" altLang="en-US" sz="2400" i="1" dirty="0"/>
          </a:p>
        </p:txBody>
      </p:sp>
      <p:sp>
        <p:nvSpPr>
          <p:cNvPr id="1024" name="文本框 1023">
            <a:extLst>
              <a:ext uri="{FF2B5EF4-FFF2-40B4-BE49-F238E27FC236}">
                <a16:creationId xmlns:a16="http://schemas.microsoft.com/office/drawing/2014/main" id="{5078BB64-96BA-FA26-538A-84AEFE36CDCA}"/>
              </a:ext>
            </a:extLst>
          </p:cNvPr>
          <p:cNvSpPr txBox="1"/>
          <p:nvPr/>
        </p:nvSpPr>
        <p:spPr>
          <a:xfrm>
            <a:off x="28876285" y="23278934"/>
            <a:ext cx="7266797" cy="4154984"/>
          </a:xfrm>
          <a:prstGeom prst="rect">
            <a:avLst/>
          </a:prstGeom>
          <a:noFill/>
        </p:spPr>
        <p:txBody>
          <a:bodyPr wrap="square" rtlCol="0">
            <a:spAutoFit/>
          </a:bodyPr>
          <a:lstStyle/>
          <a:p>
            <a:r>
              <a:rPr lang="en-US" altLang="zh-CN" sz="2400" dirty="0"/>
              <a:t>Reducing violent online language can help prevent impulsive crimes and social conflict, supporting SDG16’s peace goals. But language changes quickly, people use coded words, and platforms shift, making monitoring hard. Automated tools can also mislabel content and risk over-censoring vulnerable groups. So it should serve as a support tool alongside human review, education, and platform rules. As Ban Ki-moon said, “Peace begins with words.” Improving online language is not perfect, but it is a meaningful step toward a safer society.</a:t>
            </a:r>
            <a:endParaRPr lang="zh-CN" altLang="en-US" sz="2400" dirty="0"/>
          </a:p>
        </p:txBody>
      </p:sp>
    </p:spTree>
    <p:extLst>
      <p:ext uri="{BB962C8B-B14F-4D97-AF65-F5344CB8AC3E}">
        <p14:creationId xmlns:p14="http://schemas.microsoft.com/office/powerpoint/2010/main" val="3552670003"/>
      </p:ext>
    </p:extLst>
  </p:cSld>
  <p:clrMapOvr>
    <a:masterClrMapping/>
  </p:clrMapOvr>
</p:sld>
</file>

<file path=ppt/theme/theme1.xml><?xml version="1.0" encoding="utf-8"?>
<a:theme xmlns:a="http://schemas.openxmlformats.org/drawingml/2006/main" name="UCL_Black_A0_Landscape_Poster_Theme">
  <a:themeElements>
    <a:clrScheme name="UCL Black Theme">
      <a:dk1>
        <a:sysClr val="windowText" lastClr="000000"/>
      </a:dk1>
      <a:lt1>
        <a:srgbClr val="FFFFFF"/>
      </a:lt1>
      <a:dk2>
        <a:srgbClr val="000000"/>
      </a:dk2>
      <a:lt2>
        <a:srgbClr val="E6E6E6"/>
      </a:lt2>
      <a:accent1>
        <a:srgbClr val="F6BE00"/>
      </a:accent1>
      <a:accent2>
        <a:srgbClr val="B5BD00"/>
      </a:accent2>
      <a:accent3>
        <a:srgbClr val="A4DBE8"/>
      </a:accent3>
      <a:accent4>
        <a:srgbClr val="8C8279"/>
      </a:accent4>
      <a:accent5>
        <a:srgbClr val="EA7600"/>
      </a:accent5>
      <a:accent6>
        <a:srgbClr val="E03C31"/>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_A0_Landscape_Poster_Master.potx" id="{E6ADF204-7703-4FAF-A4DB-2F2B8C53F31A}" vid="{08D27FD6-0F78-412E-B5C8-B2578D9762C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4ADD47B68F244089BBDDC01A883908" ma:contentTypeVersion="13" ma:contentTypeDescription="Create a new document." ma:contentTypeScope="" ma:versionID="1a95ec089373963790b30efd154ab720">
  <xsd:schema xmlns:xsd="http://www.w3.org/2001/XMLSchema" xmlns:xs="http://www.w3.org/2001/XMLSchema" xmlns:p="http://schemas.microsoft.com/office/2006/metadata/properties" xmlns:ns3="d5fb6ed1-db9c-48a3-a5c6-9c2d850d1a1b" xmlns:ns4="31319a9f-c50a-4d3b-8fa9-492cace4e4c3" targetNamespace="http://schemas.microsoft.com/office/2006/metadata/properties" ma:root="true" ma:fieldsID="638ba751aff1c145b5af88aaaab0b652" ns3:_="" ns4:_="">
    <xsd:import namespace="d5fb6ed1-db9c-48a3-a5c6-9c2d850d1a1b"/>
    <xsd:import namespace="31319a9f-c50a-4d3b-8fa9-492cace4e4c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fb6ed1-db9c-48a3-a5c6-9c2d850d1a1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319a9f-c50a-4d3b-8fa9-492cace4e4c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93D280-CC88-44B2-A27A-0AE5D325F8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fb6ed1-db9c-48a3-a5c6-9c2d850d1a1b"/>
    <ds:schemaRef ds:uri="31319a9f-c50a-4d3b-8fa9-492cace4e4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4005A4-B56F-4752-B379-808441D9ECD6}">
  <ds:schemaRefs>
    <ds:schemaRef ds:uri="http://schemas.microsoft.com/sharepoint/v3/contenttype/forms"/>
  </ds:schemaRefs>
</ds:datastoreItem>
</file>

<file path=customXml/itemProps3.xml><?xml version="1.0" encoding="utf-8"?>
<ds:datastoreItem xmlns:ds="http://schemas.openxmlformats.org/officeDocument/2006/customXml" ds:itemID="{CE35FEB0-B839-4E5E-AADA-024AA63178E7}">
  <ds:schemaRefs>
    <ds:schemaRef ds:uri="http://www.w3.org/XML/1998/namespace"/>
    <ds:schemaRef ds:uri="31319a9f-c50a-4d3b-8fa9-492cace4e4c3"/>
    <ds:schemaRef ds:uri="http://schemas.microsoft.com/office/2006/documentManagement/types"/>
    <ds:schemaRef ds:uri="http://purl.org/dc/terms/"/>
    <ds:schemaRef ds:uri="http://purl.org/dc/elements/1.1/"/>
    <ds:schemaRef ds:uri="http://schemas.microsoft.com/office/infopath/2007/PartnerControls"/>
    <ds:schemaRef ds:uri="d5fb6ed1-db9c-48a3-a5c6-9c2d850d1a1b"/>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UCL_A0_Landscape_Poster_Master</Template>
  <TotalTime>5741</TotalTime>
  <Words>736</Words>
  <Application>Microsoft Office PowerPoint</Application>
  <PresentationFormat>自定义</PresentationFormat>
  <Paragraphs>100</Paragraphs>
  <Slides>1</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vt:i4>
      </vt:variant>
    </vt:vector>
  </HeadingPairs>
  <TitlesOfParts>
    <vt:vector size="3" baseType="lpstr">
      <vt:lpstr>Arial</vt:lpstr>
      <vt:lpstr>UCL_Black_A0_Landscape_Poster_Theme</vt:lpstr>
      <vt:lpstr> SafeText checker based on HEARTS-Text-Stereotype-Detection</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A0 Landscape Poster Template</dc:subject>
  <dc:creator>Petterson, Helen</dc:creator>
  <cp:keywords>A0 Landscape Poster</cp:keywords>
  <cp:lastModifiedBy>Luo, Zhiyuan</cp:lastModifiedBy>
  <cp:revision>16</cp:revision>
  <dcterms:created xsi:type="dcterms:W3CDTF">2020-10-12T16:47:39Z</dcterms:created>
  <dcterms:modified xsi:type="dcterms:W3CDTF">2025-12-11T04:45:47Z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0x010100994ADD47B68F244089BBDDC01A883908</vt:lpwstr>
  </property>
</Properties>
</file>